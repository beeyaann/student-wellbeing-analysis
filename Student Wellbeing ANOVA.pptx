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Glacial Indifference Bold" charset="1" panose="00000800000000000000"/>
      <p:regular r:id="rId36"/>
    </p:embeddedFont>
    <p:embeddedFont>
      <p:font typeface="Glacial Indifference" charset="1" panose="00000000000000000000"/>
      <p:regular r:id="rId37"/>
    </p:embeddedFont>
    <p:embeddedFont>
      <p:font typeface="Glacial Indifference Italics" charset="1" panose="000000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38.png" Type="http://schemas.openxmlformats.org/officeDocument/2006/relationships/image"/><Relationship Id="rId13" Target="../media/image5.pn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39.png" Type="http://schemas.openxmlformats.org/officeDocument/2006/relationships/image"/><Relationship Id="rId13" Target="../media/image5.pn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40.png" Type="http://schemas.openxmlformats.org/officeDocument/2006/relationships/image"/><Relationship Id="rId13" Target="../media/image5.pn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41.png" Type="http://schemas.openxmlformats.org/officeDocument/2006/relationships/image"/><Relationship Id="rId13" Target="../media/image5.pn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42.png" Type="http://schemas.openxmlformats.org/officeDocument/2006/relationships/image"/><Relationship Id="rId13" Target="../media/image5.pn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43.png" Type="http://schemas.openxmlformats.org/officeDocument/2006/relationships/image"/><Relationship Id="rId13" Target="../media/image5.pn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44.png" Type="http://schemas.openxmlformats.org/officeDocument/2006/relationships/image"/><Relationship Id="rId13" Target="../media/image5.pn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45.png" Type="http://schemas.openxmlformats.org/officeDocument/2006/relationships/image"/><Relationship Id="rId13" Target="../media/image5.pn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46.png" Type="http://schemas.openxmlformats.org/officeDocument/2006/relationships/image"/><Relationship Id="rId13" Target="../media/image5.pn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47.png" Type="http://schemas.openxmlformats.org/officeDocument/2006/relationships/image"/><Relationship Id="rId13" Target="../media/image5.pn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png" Type="http://schemas.openxmlformats.org/officeDocument/2006/relationships/image"/><Relationship Id="rId7" Target="../media/image5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3.png" Type="http://schemas.openxmlformats.org/officeDocument/2006/relationships/image"/><Relationship Id="rId7" Target="../media/image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4.png" Type="http://schemas.openxmlformats.org/officeDocument/2006/relationships/image"/><Relationship Id="rId7" Target="../media/image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5.png" Type="http://schemas.openxmlformats.org/officeDocument/2006/relationships/image"/><Relationship Id="rId7" Target="../media/image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6.png" Type="http://schemas.openxmlformats.org/officeDocument/2006/relationships/image"/><Relationship Id="rId7" Target="../media/image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7.png" Type="http://schemas.openxmlformats.org/officeDocument/2006/relationships/image"/><Relationship Id="rId7" Target="../media/image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8.png" Type="http://schemas.openxmlformats.org/officeDocument/2006/relationships/image"/><Relationship Id="rId7" Target="../media/image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9.png" Type="http://schemas.openxmlformats.org/officeDocument/2006/relationships/image"/><Relationship Id="rId7" Target="../media/image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2" Target="../media/image60.png" Type="http://schemas.openxmlformats.org/officeDocument/2006/relationships/image"/><Relationship Id="rId3" Target="../media/image61.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png" Type="http://schemas.openxmlformats.org/officeDocument/2006/relationships/image"/><Relationship Id="rId11" Target="../media/image5.png" Type="http://schemas.openxmlformats.org/officeDocument/2006/relationships/image"/><Relationship Id="rId2" Target="../media/image60.png" Type="http://schemas.openxmlformats.org/officeDocument/2006/relationships/image"/><Relationship Id="rId3" Target="../media/image61.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https://binus.ac.id/malang/2022/09/stratified-random-sampling/" TargetMode="External" Type="http://schemas.openxmlformats.org/officeDocument/2006/relationships/hyperlink"/><Relationship Id="rId11" Target="../media/image5.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1.png" Type="http://schemas.openxmlformats.org/officeDocument/2006/relationships/image"/><Relationship Id="rId3" Target="../media/image72.svg" Type="http://schemas.openxmlformats.org/officeDocument/2006/relationships/image"/><Relationship Id="rId4" Target="../media/image73.png" Type="http://schemas.openxmlformats.org/officeDocument/2006/relationships/image"/><Relationship Id="rId5" Target="../media/image74.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64.png" Type="http://schemas.openxmlformats.org/officeDocument/2006/relationships/image"/><Relationship Id="rId9" Target="../media/image6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896060" y="6621416"/>
            <a:ext cx="5348485" cy="3618394"/>
            <a:chOff x="0" y="0"/>
            <a:chExt cx="1408655" cy="952993"/>
          </a:xfrm>
        </p:grpSpPr>
        <p:sp>
          <p:nvSpPr>
            <p:cNvPr name="Freeform 3" id="3"/>
            <p:cNvSpPr/>
            <p:nvPr/>
          </p:nvSpPr>
          <p:spPr>
            <a:xfrm flipH="false" flipV="false" rot="0">
              <a:off x="0" y="0"/>
              <a:ext cx="1408655" cy="952993"/>
            </a:xfrm>
            <a:custGeom>
              <a:avLst/>
              <a:gdLst/>
              <a:ahLst/>
              <a:cxnLst/>
              <a:rect r="r" b="b" t="t" l="l"/>
              <a:pathLst>
                <a:path h="952993" w="1408655">
                  <a:moveTo>
                    <a:pt x="0" y="0"/>
                  </a:moveTo>
                  <a:lnTo>
                    <a:pt x="1408655" y="0"/>
                  </a:lnTo>
                  <a:lnTo>
                    <a:pt x="1408655" y="952993"/>
                  </a:lnTo>
                  <a:lnTo>
                    <a:pt x="0" y="952993"/>
                  </a:lnTo>
                  <a:close/>
                </a:path>
              </a:pathLst>
            </a:custGeom>
            <a:solidFill>
              <a:srgbClr val="E4E4E4"/>
            </a:solidFill>
          </p:spPr>
        </p:sp>
        <p:sp>
          <p:nvSpPr>
            <p:cNvPr name="TextBox 4" id="4"/>
            <p:cNvSpPr txBox="true"/>
            <p:nvPr/>
          </p:nvSpPr>
          <p:spPr>
            <a:xfrm>
              <a:off x="0" y="-38100"/>
              <a:ext cx="1408655" cy="99109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183514" y="2901658"/>
            <a:ext cx="1327633" cy="1327633"/>
          </a:xfrm>
          <a:custGeom>
            <a:avLst/>
            <a:gdLst/>
            <a:ahLst/>
            <a:cxnLst/>
            <a:rect r="r" b="b" t="t" l="l"/>
            <a:pathLst>
              <a:path h="1327633" w="1327633">
                <a:moveTo>
                  <a:pt x="0" y="0"/>
                </a:moveTo>
                <a:lnTo>
                  <a:pt x="1327633" y="0"/>
                </a:lnTo>
                <a:lnTo>
                  <a:pt x="1327633" y="1327633"/>
                </a:lnTo>
                <a:lnTo>
                  <a:pt x="0" y="13276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747072" y="-2408128"/>
            <a:ext cx="5973602" cy="5973602"/>
          </a:xfrm>
          <a:custGeom>
            <a:avLst/>
            <a:gdLst/>
            <a:ahLst/>
            <a:cxnLst/>
            <a:rect r="r" b="b" t="t" l="l"/>
            <a:pathLst>
              <a:path h="5973602" w="5973602">
                <a:moveTo>
                  <a:pt x="0" y="0"/>
                </a:moveTo>
                <a:lnTo>
                  <a:pt x="5973602" y="0"/>
                </a:lnTo>
                <a:lnTo>
                  <a:pt x="5973602" y="5973602"/>
                </a:lnTo>
                <a:lnTo>
                  <a:pt x="0" y="59736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5351247" y="4400741"/>
            <a:ext cx="803180" cy="742759"/>
            <a:chOff x="0" y="0"/>
            <a:chExt cx="211537" cy="195624"/>
          </a:xfrm>
        </p:grpSpPr>
        <p:sp>
          <p:nvSpPr>
            <p:cNvPr name="Freeform 8" id="8"/>
            <p:cNvSpPr/>
            <p:nvPr/>
          </p:nvSpPr>
          <p:spPr>
            <a:xfrm flipH="false" flipV="false" rot="0">
              <a:off x="0" y="0"/>
              <a:ext cx="211537" cy="195624"/>
            </a:xfrm>
            <a:custGeom>
              <a:avLst/>
              <a:gdLst/>
              <a:ahLst/>
              <a:cxnLst/>
              <a:rect r="r" b="b" t="t" l="l"/>
              <a:pathLst>
                <a:path h="195624" w="211537">
                  <a:moveTo>
                    <a:pt x="0" y="0"/>
                  </a:moveTo>
                  <a:lnTo>
                    <a:pt x="211537" y="0"/>
                  </a:lnTo>
                  <a:lnTo>
                    <a:pt x="211537" y="195624"/>
                  </a:lnTo>
                  <a:lnTo>
                    <a:pt x="0" y="195624"/>
                  </a:lnTo>
                  <a:close/>
                </a:path>
              </a:pathLst>
            </a:custGeom>
            <a:solidFill>
              <a:srgbClr val="5DA295"/>
            </a:solidFill>
          </p:spPr>
        </p:sp>
        <p:sp>
          <p:nvSpPr>
            <p:cNvPr name="TextBox 9" id="9"/>
            <p:cNvSpPr txBox="true"/>
            <p:nvPr/>
          </p:nvSpPr>
          <p:spPr>
            <a:xfrm>
              <a:off x="0" y="-38100"/>
              <a:ext cx="211537" cy="23372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0" y="0"/>
            <a:ext cx="619741" cy="2934068"/>
            <a:chOff x="0" y="0"/>
            <a:chExt cx="163224" cy="772759"/>
          </a:xfrm>
        </p:grpSpPr>
        <p:sp>
          <p:nvSpPr>
            <p:cNvPr name="Freeform 11" id="11"/>
            <p:cNvSpPr/>
            <p:nvPr/>
          </p:nvSpPr>
          <p:spPr>
            <a:xfrm flipH="false" flipV="false" rot="0">
              <a:off x="0" y="0"/>
              <a:ext cx="163224" cy="772759"/>
            </a:xfrm>
            <a:custGeom>
              <a:avLst/>
              <a:gdLst/>
              <a:ahLst/>
              <a:cxnLst/>
              <a:rect r="r" b="b" t="t" l="l"/>
              <a:pathLst>
                <a:path h="772759" w="163224">
                  <a:moveTo>
                    <a:pt x="0" y="0"/>
                  </a:moveTo>
                  <a:lnTo>
                    <a:pt x="163224" y="0"/>
                  </a:lnTo>
                  <a:lnTo>
                    <a:pt x="163224" y="772759"/>
                  </a:lnTo>
                  <a:lnTo>
                    <a:pt x="0" y="772759"/>
                  </a:lnTo>
                  <a:close/>
                </a:path>
              </a:pathLst>
            </a:custGeom>
            <a:solidFill>
              <a:srgbClr val="5DA295"/>
            </a:solidFill>
          </p:spPr>
        </p:sp>
        <p:sp>
          <p:nvSpPr>
            <p:cNvPr name="TextBox 12" id="12"/>
            <p:cNvSpPr txBox="true"/>
            <p:nvPr/>
          </p:nvSpPr>
          <p:spPr>
            <a:xfrm>
              <a:off x="0" y="-38100"/>
              <a:ext cx="163224" cy="810859"/>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2933707"/>
            <a:ext cx="619741" cy="1004046"/>
            <a:chOff x="0" y="0"/>
            <a:chExt cx="163224" cy="264440"/>
          </a:xfrm>
        </p:grpSpPr>
        <p:sp>
          <p:nvSpPr>
            <p:cNvPr name="Freeform 14" id="14"/>
            <p:cNvSpPr/>
            <p:nvPr/>
          </p:nvSpPr>
          <p:spPr>
            <a:xfrm flipH="false" flipV="false" rot="0">
              <a:off x="0" y="0"/>
              <a:ext cx="163224" cy="264440"/>
            </a:xfrm>
            <a:custGeom>
              <a:avLst/>
              <a:gdLst/>
              <a:ahLst/>
              <a:cxnLst/>
              <a:rect r="r" b="b" t="t" l="l"/>
              <a:pathLst>
                <a:path h="264440" w="163224">
                  <a:moveTo>
                    <a:pt x="0" y="0"/>
                  </a:moveTo>
                  <a:lnTo>
                    <a:pt x="163224" y="0"/>
                  </a:lnTo>
                  <a:lnTo>
                    <a:pt x="163224" y="264440"/>
                  </a:lnTo>
                  <a:lnTo>
                    <a:pt x="0" y="264440"/>
                  </a:lnTo>
                  <a:close/>
                </a:path>
              </a:pathLst>
            </a:custGeom>
            <a:solidFill>
              <a:srgbClr val="BFDDD2"/>
            </a:solidFill>
          </p:spPr>
        </p:sp>
        <p:sp>
          <p:nvSpPr>
            <p:cNvPr name="TextBox 15" id="15"/>
            <p:cNvSpPr txBox="true"/>
            <p:nvPr/>
          </p:nvSpPr>
          <p:spPr>
            <a:xfrm>
              <a:off x="0" y="-38100"/>
              <a:ext cx="163224" cy="30254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0" y="6668606"/>
            <a:ext cx="12939515" cy="3618394"/>
            <a:chOff x="0" y="0"/>
            <a:chExt cx="3407938" cy="952993"/>
          </a:xfrm>
        </p:grpSpPr>
        <p:sp>
          <p:nvSpPr>
            <p:cNvPr name="Freeform 17" id="17"/>
            <p:cNvSpPr/>
            <p:nvPr/>
          </p:nvSpPr>
          <p:spPr>
            <a:xfrm flipH="false" flipV="false" rot="0">
              <a:off x="0" y="0"/>
              <a:ext cx="3407938" cy="952993"/>
            </a:xfrm>
            <a:custGeom>
              <a:avLst/>
              <a:gdLst/>
              <a:ahLst/>
              <a:cxnLst/>
              <a:rect r="r" b="b" t="t" l="l"/>
              <a:pathLst>
                <a:path h="952993" w="3407938">
                  <a:moveTo>
                    <a:pt x="0" y="0"/>
                  </a:moveTo>
                  <a:lnTo>
                    <a:pt x="3407938" y="0"/>
                  </a:lnTo>
                  <a:lnTo>
                    <a:pt x="3407938" y="952993"/>
                  </a:lnTo>
                  <a:lnTo>
                    <a:pt x="0" y="952993"/>
                  </a:lnTo>
                  <a:close/>
                </a:path>
              </a:pathLst>
            </a:custGeom>
            <a:solidFill>
              <a:srgbClr val="5DA295"/>
            </a:solidFill>
          </p:spPr>
        </p:sp>
        <p:sp>
          <p:nvSpPr>
            <p:cNvPr name="TextBox 18" id="18"/>
            <p:cNvSpPr txBox="true"/>
            <p:nvPr/>
          </p:nvSpPr>
          <p:spPr>
            <a:xfrm>
              <a:off x="0" y="-38100"/>
              <a:ext cx="3407938" cy="99109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4590770" y="2452190"/>
            <a:ext cx="143103" cy="2691310"/>
            <a:chOff x="0" y="0"/>
            <a:chExt cx="37690" cy="708822"/>
          </a:xfrm>
        </p:grpSpPr>
        <p:sp>
          <p:nvSpPr>
            <p:cNvPr name="Freeform 20" id="20"/>
            <p:cNvSpPr/>
            <p:nvPr/>
          </p:nvSpPr>
          <p:spPr>
            <a:xfrm flipH="false" flipV="false" rot="0">
              <a:off x="0" y="0"/>
              <a:ext cx="37690" cy="708822"/>
            </a:xfrm>
            <a:custGeom>
              <a:avLst/>
              <a:gdLst/>
              <a:ahLst/>
              <a:cxnLst/>
              <a:rect r="r" b="b" t="t" l="l"/>
              <a:pathLst>
                <a:path h="708822" w="37690">
                  <a:moveTo>
                    <a:pt x="0" y="0"/>
                  </a:moveTo>
                  <a:lnTo>
                    <a:pt x="37690" y="0"/>
                  </a:lnTo>
                  <a:lnTo>
                    <a:pt x="37690" y="708822"/>
                  </a:lnTo>
                  <a:lnTo>
                    <a:pt x="0" y="708822"/>
                  </a:lnTo>
                  <a:close/>
                </a:path>
              </a:pathLst>
            </a:custGeom>
            <a:solidFill>
              <a:srgbClr val="BFDDD2"/>
            </a:solidFill>
          </p:spPr>
        </p:sp>
        <p:sp>
          <p:nvSpPr>
            <p:cNvPr name="TextBox 21" id="21"/>
            <p:cNvSpPr txBox="true"/>
            <p:nvPr/>
          </p:nvSpPr>
          <p:spPr>
            <a:xfrm>
              <a:off x="0" y="-38100"/>
              <a:ext cx="37690" cy="746922"/>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726422" y="3255282"/>
            <a:ext cx="12245222" cy="2508449"/>
          </a:xfrm>
          <a:prstGeom prst="rect">
            <a:avLst/>
          </a:prstGeom>
        </p:spPr>
        <p:txBody>
          <a:bodyPr anchor="t" rtlCol="false" tIns="0" lIns="0" bIns="0" rIns="0">
            <a:spAutoFit/>
          </a:bodyPr>
          <a:lstStyle/>
          <a:p>
            <a:pPr algn="l">
              <a:lnSpc>
                <a:spcPts val="4922"/>
              </a:lnSpc>
            </a:pPr>
            <a:r>
              <a:rPr lang="en-US" sz="4172" b="true">
                <a:solidFill>
                  <a:srgbClr val="000000"/>
                </a:solidFill>
                <a:latin typeface="Glacial Indifference Bold"/>
                <a:ea typeface="Glacial Indifference Bold"/>
                <a:cs typeface="Glacial Indifference Bold"/>
                <a:sym typeface="Glacial Indifference Bold"/>
              </a:rPr>
              <a:t>PENGARUH KEGIATAN PERKULIAHAN </a:t>
            </a:r>
          </a:p>
          <a:p>
            <a:pPr algn="l">
              <a:lnSpc>
                <a:spcPts val="4922"/>
              </a:lnSpc>
            </a:pPr>
            <a:r>
              <a:rPr lang="en-US" sz="4172" b="true">
                <a:solidFill>
                  <a:srgbClr val="000000"/>
                </a:solidFill>
                <a:latin typeface="Glacial Indifference Bold"/>
                <a:ea typeface="Glacial Indifference Bold"/>
                <a:cs typeface="Glacial Indifference Bold"/>
                <a:sym typeface="Glacial Indifference Bold"/>
              </a:rPr>
              <a:t>TERHADAP KESEHATAN </a:t>
            </a:r>
          </a:p>
          <a:p>
            <a:pPr algn="l">
              <a:lnSpc>
                <a:spcPts val="4922"/>
              </a:lnSpc>
            </a:pPr>
            <a:r>
              <a:rPr lang="en-US" sz="4172" b="true">
                <a:solidFill>
                  <a:srgbClr val="000000"/>
                </a:solidFill>
                <a:latin typeface="Glacial Indifference Bold"/>
                <a:ea typeface="Glacial Indifference Bold"/>
                <a:cs typeface="Glacial Indifference Bold"/>
                <a:sym typeface="Glacial Indifference Bold"/>
              </a:rPr>
              <a:t>Fisik dan Psikologis Mahasiswa Aktif PENS</a:t>
            </a:r>
          </a:p>
          <a:p>
            <a:pPr algn="l">
              <a:lnSpc>
                <a:spcPts val="4922"/>
              </a:lnSpc>
            </a:pPr>
          </a:p>
        </p:txBody>
      </p:sp>
      <p:grpSp>
        <p:nvGrpSpPr>
          <p:cNvPr name="Group 23" id="23"/>
          <p:cNvGrpSpPr/>
          <p:nvPr/>
        </p:nvGrpSpPr>
        <p:grpSpPr>
          <a:xfrm rot="0">
            <a:off x="13149065" y="7317161"/>
            <a:ext cx="5138935" cy="1829656"/>
            <a:chOff x="0" y="0"/>
            <a:chExt cx="6851914" cy="2439541"/>
          </a:xfrm>
        </p:grpSpPr>
        <p:sp>
          <p:nvSpPr>
            <p:cNvPr name="Freeform 24" id="24"/>
            <p:cNvSpPr/>
            <p:nvPr/>
          </p:nvSpPr>
          <p:spPr>
            <a:xfrm flipH="false" flipV="false" rot="0">
              <a:off x="0" y="0"/>
              <a:ext cx="2564141" cy="2439541"/>
            </a:xfrm>
            <a:custGeom>
              <a:avLst/>
              <a:gdLst/>
              <a:ahLst/>
              <a:cxnLst/>
              <a:rect r="r" b="b" t="t" l="l"/>
              <a:pathLst>
                <a:path h="2439541" w="2564141">
                  <a:moveTo>
                    <a:pt x="0" y="0"/>
                  </a:moveTo>
                  <a:lnTo>
                    <a:pt x="2564141" y="0"/>
                  </a:lnTo>
                  <a:lnTo>
                    <a:pt x="2564141" y="2439541"/>
                  </a:lnTo>
                  <a:lnTo>
                    <a:pt x="0" y="2439541"/>
                  </a:lnTo>
                  <a:lnTo>
                    <a:pt x="0" y="0"/>
                  </a:lnTo>
                  <a:close/>
                </a:path>
              </a:pathLst>
            </a:custGeom>
            <a:blipFill>
              <a:blip r:embed="rId6"/>
              <a:stretch>
                <a:fillRect l="0" t="0" r="0" b="0"/>
              </a:stretch>
            </a:blipFill>
          </p:spPr>
        </p:sp>
        <p:sp>
          <p:nvSpPr>
            <p:cNvPr name="TextBox 25" id="25"/>
            <p:cNvSpPr txBox="true"/>
            <p:nvPr/>
          </p:nvSpPr>
          <p:spPr>
            <a:xfrm rot="0">
              <a:off x="2493168" y="853918"/>
              <a:ext cx="4358746" cy="731705"/>
            </a:xfrm>
            <a:prstGeom prst="rect">
              <a:avLst/>
            </a:prstGeom>
          </p:spPr>
          <p:txBody>
            <a:bodyPr anchor="t" rtlCol="false" tIns="0" lIns="0" bIns="0" rIns="0">
              <a:spAutoFit/>
            </a:bodyPr>
            <a:lstStyle/>
            <a:p>
              <a:pPr algn="ctr">
                <a:lnSpc>
                  <a:spcPts val="2172"/>
                </a:lnSpc>
              </a:pPr>
              <a:r>
                <a:rPr lang="en-US" b="true" sz="1810" spc="90">
                  <a:solidFill>
                    <a:srgbClr val="000000"/>
                  </a:solidFill>
                  <a:latin typeface="Glacial Indifference Bold"/>
                  <a:ea typeface="Glacial Indifference Bold"/>
                  <a:cs typeface="Glacial Indifference Bold"/>
                  <a:sym typeface="Glacial Indifference Bold"/>
                </a:rPr>
                <a:t>POLITEKNIK ELEKTRONIKA</a:t>
              </a:r>
            </a:p>
            <a:p>
              <a:pPr algn="ctr">
                <a:lnSpc>
                  <a:spcPts val="2172"/>
                </a:lnSpc>
              </a:pPr>
              <a:r>
                <a:rPr lang="en-US" b="true" sz="1810" spc="90">
                  <a:solidFill>
                    <a:srgbClr val="000000"/>
                  </a:solidFill>
                  <a:latin typeface="Glacial Indifference Bold"/>
                  <a:ea typeface="Glacial Indifference Bold"/>
                  <a:cs typeface="Glacial Indifference Bold"/>
                  <a:sym typeface="Glacial Indifference Bold"/>
                </a:rPr>
                <a:t>NEGERI SURABAYA</a:t>
              </a:r>
            </a:p>
          </p:txBody>
        </p:sp>
      </p:grpSp>
      <p:sp>
        <p:nvSpPr>
          <p:cNvPr name="TextBox 26" id="26"/>
          <p:cNvSpPr txBox="true"/>
          <p:nvPr/>
        </p:nvSpPr>
        <p:spPr>
          <a:xfrm rot="0">
            <a:off x="1726422" y="2112148"/>
            <a:ext cx="10020650" cy="613409"/>
          </a:xfrm>
          <a:prstGeom prst="rect">
            <a:avLst/>
          </a:prstGeom>
        </p:spPr>
        <p:txBody>
          <a:bodyPr anchor="t" rtlCol="false" tIns="0" lIns="0" bIns="0" rIns="0">
            <a:spAutoFit/>
          </a:bodyPr>
          <a:lstStyle/>
          <a:p>
            <a:pPr algn="l">
              <a:lnSpc>
                <a:spcPts val="5040"/>
              </a:lnSpc>
            </a:pPr>
            <a:r>
              <a:rPr lang="en-US" b="true" sz="3600" spc="288">
                <a:solidFill>
                  <a:srgbClr val="5DA295"/>
                </a:solidFill>
                <a:latin typeface="Glacial Indifference Bold"/>
                <a:ea typeface="Glacial Indifference Bold"/>
                <a:cs typeface="Glacial Indifference Bold"/>
                <a:sym typeface="Glacial Indifference Bold"/>
              </a:rPr>
              <a:t>ANALISIS STATISTIK DATA HASIL SURVEI </a:t>
            </a:r>
          </a:p>
        </p:txBody>
      </p:sp>
      <p:sp>
        <p:nvSpPr>
          <p:cNvPr name="TextBox 27" id="27"/>
          <p:cNvSpPr txBox="true"/>
          <p:nvPr/>
        </p:nvSpPr>
        <p:spPr>
          <a:xfrm rot="0">
            <a:off x="462358" y="7075523"/>
            <a:ext cx="5056886" cy="688975"/>
          </a:xfrm>
          <a:prstGeom prst="rect">
            <a:avLst/>
          </a:prstGeom>
        </p:spPr>
        <p:txBody>
          <a:bodyPr anchor="t" rtlCol="false" tIns="0" lIns="0" bIns="0" rIns="0">
            <a:spAutoFit/>
          </a:bodyPr>
          <a:lstStyle/>
          <a:p>
            <a:pPr algn="l">
              <a:lnSpc>
                <a:spcPts val="5599"/>
              </a:lnSpc>
            </a:pPr>
            <a:r>
              <a:rPr lang="en-US" sz="3999" b="true">
                <a:solidFill>
                  <a:srgbClr val="FFFFFF"/>
                </a:solidFill>
                <a:latin typeface="Glacial Indifference Bold"/>
                <a:ea typeface="Glacial Indifference Bold"/>
                <a:cs typeface="Glacial Indifference Bold"/>
                <a:sym typeface="Glacial Indifference Bold"/>
              </a:rPr>
              <a:t>Muhammad Hanif A</a:t>
            </a:r>
          </a:p>
        </p:txBody>
      </p:sp>
      <p:sp>
        <p:nvSpPr>
          <p:cNvPr name="TextBox 28" id="28"/>
          <p:cNvSpPr txBox="true"/>
          <p:nvPr/>
        </p:nvSpPr>
        <p:spPr>
          <a:xfrm rot="0">
            <a:off x="619741" y="7850223"/>
            <a:ext cx="3650292" cy="580390"/>
          </a:xfrm>
          <a:prstGeom prst="rect">
            <a:avLst/>
          </a:prstGeom>
        </p:spPr>
        <p:txBody>
          <a:bodyPr anchor="t" rtlCol="false" tIns="0" lIns="0" bIns="0" rIns="0">
            <a:spAutoFit/>
          </a:bodyPr>
          <a:lstStyle/>
          <a:p>
            <a:pPr algn="l">
              <a:lnSpc>
                <a:spcPts val="4759"/>
              </a:lnSpc>
            </a:pPr>
            <a:r>
              <a:rPr lang="en-US" sz="3399">
                <a:solidFill>
                  <a:srgbClr val="FFFFFF"/>
                </a:solidFill>
                <a:latin typeface="Glacial Indifference"/>
                <a:ea typeface="Glacial Indifference"/>
                <a:cs typeface="Glacial Indifference"/>
                <a:sym typeface="Glacial Indifference"/>
              </a:rPr>
              <a:t>NRP : 3323600047</a:t>
            </a:r>
          </a:p>
        </p:txBody>
      </p:sp>
      <p:sp>
        <p:nvSpPr>
          <p:cNvPr name="TextBox 29" id="29"/>
          <p:cNvSpPr txBox="true"/>
          <p:nvPr/>
        </p:nvSpPr>
        <p:spPr>
          <a:xfrm rot="0">
            <a:off x="5731900" y="7075523"/>
            <a:ext cx="6914261" cy="688975"/>
          </a:xfrm>
          <a:prstGeom prst="rect">
            <a:avLst/>
          </a:prstGeom>
        </p:spPr>
        <p:txBody>
          <a:bodyPr anchor="t" rtlCol="false" tIns="0" lIns="0" bIns="0" rIns="0">
            <a:spAutoFit/>
          </a:bodyPr>
          <a:lstStyle/>
          <a:p>
            <a:pPr algn="l">
              <a:lnSpc>
                <a:spcPts val="5599"/>
              </a:lnSpc>
            </a:pPr>
            <a:r>
              <a:rPr lang="en-US" sz="3999" b="true">
                <a:solidFill>
                  <a:srgbClr val="FFFFFF"/>
                </a:solidFill>
                <a:latin typeface="Glacial Indifference Bold"/>
                <a:ea typeface="Glacial Indifference Bold"/>
                <a:cs typeface="Glacial Indifference Bold"/>
                <a:sym typeface="Glacial Indifference Bold"/>
              </a:rPr>
              <a:t>Aurelia Hapsari Dyah Rinjani</a:t>
            </a:r>
          </a:p>
        </p:txBody>
      </p:sp>
      <p:sp>
        <p:nvSpPr>
          <p:cNvPr name="TextBox 30" id="30"/>
          <p:cNvSpPr txBox="true"/>
          <p:nvPr/>
        </p:nvSpPr>
        <p:spPr>
          <a:xfrm rot="0">
            <a:off x="5731900" y="7849470"/>
            <a:ext cx="3650292" cy="580390"/>
          </a:xfrm>
          <a:prstGeom prst="rect">
            <a:avLst/>
          </a:prstGeom>
        </p:spPr>
        <p:txBody>
          <a:bodyPr anchor="t" rtlCol="false" tIns="0" lIns="0" bIns="0" rIns="0">
            <a:spAutoFit/>
          </a:bodyPr>
          <a:lstStyle/>
          <a:p>
            <a:pPr algn="l">
              <a:lnSpc>
                <a:spcPts val="4759"/>
              </a:lnSpc>
            </a:pPr>
            <a:r>
              <a:rPr lang="en-US" sz="3399">
                <a:solidFill>
                  <a:srgbClr val="FFFFFF"/>
                </a:solidFill>
                <a:latin typeface="Glacial Indifference"/>
                <a:ea typeface="Glacial Indifference"/>
                <a:cs typeface="Glacial Indifference"/>
                <a:sym typeface="Glacial Indifference"/>
              </a:rPr>
              <a:t>NRP : 3323600035</a:t>
            </a:r>
          </a:p>
        </p:txBody>
      </p:sp>
      <p:sp>
        <p:nvSpPr>
          <p:cNvPr name="TextBox 31" id="31"/>
          <p:cNvSpPr txBox="true"/>
          <p:nvPr/>
        </p:nvSpPr>
        <p:spPr>
          <a:xfrm rot="0">
            <a:off x="462358" y="8569325"/>
            <a:ext cx="5056886" cy="688975"/>
          </a:xfrm>
          <a:prstGeom prst="rect">
            <a:avLst/>
          </a:prstGeom>
        </p:spPr>
        <p:txBody>
          <a:bodyPr anchor="t" rtlCol="false" tIns="0" lIns="0" bIns="0" rIns="0">
            <a:spAutoFit/>
          </a:bodyPr>
          <a:lstStyle/>
          <a:p>
            <a:pPr algn="l">
              <a:lnSpc>
                <a:spcPts val="5599"/>
              </a:lnSpc>
            </a:pPr>
            <a:r>
              <a:rPr lang="en-US" sz="3999" b="true">
                <a:solidFill>
                  <a:srgbClr val="FFFFFF"/>
                </a:solidFill>
                <a:latin typeface="Glacial Indifference Bold"/>
                <a:ea typeface="Glacial Indifference Bold"/>
                <a:cs typeface="Glacial Indifference Bold"/>
                <a:sym typeface="Glacial Indifference Bold"/>
              </a:rPr>
              <a:t>Biyan Daniswara</a:t>
            </a:r>
          </a:p>
        </p:txBody>
      </p:sp>
      <p:sp>
        <p:nvSpPr>
          <p:cNvPr name="TextBox 32" id="32"/>
          <p:cNvSpPr txBox="true"/>
          <p:nvPr/>
        </p:nvSpPr>
        <p:spPr>
          <a:xfrm rot="0">
            <a:off x="462358" y="9262558"/>
            <a:ext cx="3650292" cy="580390"/>
          </a:xfrm>
          <a:prstGeom prst="rect">
            <a:avLst/>
          </a:prstGeom>
        </p:spPr>
        <p:txBody>
          <a:bodyPr anchor="t" rtlCol="false" tIns="0" lIns="0" bIns="0" rIns="0">
            <a:spAutoFit/>
          </a:bodyPr>
          <a:lstStyle/>
          <a:p>
            <a:pPr algn="l">
              <a:lnSpc>
                <a:spcPts val="4759"/>
              </a:lnSpc>
            </a:pPr>
            <a:r>
              <a:rPr lang="en-US" sz="3399">
                <a:solidFill>
                  <a:srgbClr val="FFFFFF"/>
                </a:solidFill>
                <a:latin typeface="Glacial Indifference"/>
                <a:ea typeface="Glacial Indifference"/>
                <a:cs typeface="Glacial Indifference"/>
                <a:sym typeface="Glacial Indifference"/>
              </a:rPr>
              <a:t>NRP : 3323600042</a:t>
            </a:r>
          </a:p>
        </p:txBody>
      </p:sp>
      <p:sp>
        <p:nvSpPr>
          <p:cNvPr name="TextBox 33" id="33"/>
          <p:cNvSpPr txBox="true"/>
          <p:nvPr/>
        </p:nvSpPr>
        <p:spPr>
          <a:xfrm rot="0">
            <a:off x="5772249" y="8496535"/>
            <a:ext cx="6914261" cy="688975"/>
          </a:xfrm>
          <a:prstGeom prst="rect">
            <a:avLst/>
          </a:prstGeom>
        </p:spPr>
        <p:txBody>
          <a:bodyPr anchor="t" rtlCol="false" tIns="0" lIns="0" bIns="0" rIns="0">
            <a:spAutoFit/>
          </a:bodyPr>
          <a:lstStyle/>
          <a:p>
            <a:pPr algn="l">
              <a:lnSpc>
                <a:spcPts val="5599"/>
              </a:lnSpc>
            </a:pPr>
            <a:r>
              <a:rPr lang="en-US" sz="3999" b="true">
                <a:solidFill>
                  <a:srgbClr val="FFFFFF"/>
                </a:solidFill>
                <a:latin typeface="Glacial Indifference Bold"/>
                <a:ea typeface="Glacial Indifference Bold"/>
                <a:cs typeface="Glacial Indifference Bold"/>
                <a:sym typeface="Glacial Indifference Bold"/>
              </a:rPr>
              <a:t>Azalia Fitriana Bagardini</a:t>
            </a:r>
          </a:p>
        </p:txBody>
      </p:sp>
      <p:sp>
        <p:nvSpPr>
          <p:cNvPr name="TextBox 34" id="34"/>
          <p:cNvSpPr txBox="true"/>
          <p:nvPr/>
        </p:nvSpPr>
        <p:spPr>
          <a:xfrm rot="0">
            <a:off x="5731900" y="9271236"/>
            <a:ext cx="3650292" cy="580390"/>
          </a:xfrm>
          <a:prstGeom prst="rect">
            <a:avLst/>
          </a:prstGeom>
        </p:spPr>
        <p:txBody>
          <a:bodyPr anchor="t" rtlCol="false" tIns="0" lIns="0" bIns="0" rIns="0">
            <a:spAutoFit/>
          </a:bodyPr>
          <a:lstStyle/>
          <a:p>
            <a:pPr algn="l">
              <a:lnSpc>
                <a:spcPts val="4759"/>
              </a:lnSpc>
            </a:pPr>
            <a:r>
              <a:rPr lang="en-US" sz="3399">
                <a:solidFill>
                  <a:srgbClr val="FFFFFF"/>
                </a:solidFill>
                <a:latin typeface="Glacial Indifference"/>
                <a:ea typeface="Glacial Indifference"/>
                <a:cs typeface="Glacial Indifference"/>
                <a:sym typeface="Glacial Indifference"/>
              </a:rPr>
              <a:t>NRP : 3323600051</a:t>
            </a:r>
          </a:p>
        </p:txBody>
      </p:sp>
      <p:sp>
        <p:nvSpPr>
          <p:cNvPr name="TextBox 35" id="35"/>
          <p:cNvSpPr txBox="true"/>
          <p:nvPr/>
        </p:nvSpPr>
        <p:spPr>
          <a:xfrm rot="0">
            <a:off x="1741590" y="5266559"/>
            <a:ext cx="6408703" cy="688975"/>
          </a:xfrm>
          <a:prstGeom prst="rect">
            <a:avLst/>
          </a:prstGeom>
        </p:spPr>
        <p:txBody>
          <a:bodyPr anchor="t" rtlCol="false" tIns="0" lIns="0" bIns="0" rIns="0">
            <a:spAutoFit/>
          </a:bodyPr>
          <a:lstStyle/>
          <a:p>
            <a:pPr algn="l">
              <a:lnSpc>
                <a:spcPts val="5599"/>
              </a:lnSpc>
            </a:pPr>
            <a:r>
              <a:rPr lang="en-US" sz="3999" i="true">
                <a:solidFill>
                  <a:srgbClr val="000000"/>
                </a:solidFill>
                <a:latin typeface="Glacial Indifference Italics"/>
                <a:ea typeface="Glacial Indifference Italics"/>
                <a:cs typeface="Glacial Indifference Italics"/>
                <a:sym typeface="Glacial Indifference Italics"/>
              </a:rPr>
              <a:t>Disusun oleh: Kelompok 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DA295"/>
        </a:solidFill>
      </p:bgPr>
    </p:bg>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E4E4E4"/>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213565"/>
            <a:chOff x="0" y="0"/>
            <a:chExt cx="4816593" cy="56248"/>
          </a:xfrm>
        </p:grpSpPr>
        <p:sp>
          <p:nvSpPr>
            <p:cNvPr name="Freeform 6" id="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7" id="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FFFFFF"/>
                </a:solidFill>
                <a:latin typeface="Glacial Indifference Bold"/>
                <a:ea typeface="Glacial Indifference Bold"/>
                <a:cs typeface="Glacial Indifference Bold"/>
                <a:sym typeface="Glacial Indifference Bold"/>
              </a:rPr>
              <a:t>01</a:t>
            </a:r>
          </a:p>
        </p:txBody>
      </p:sp>
      <p:sp>
        <p:nvSpPr>
          <p:cNvPr name="AutoShape 9" id="9"/>
          <p:cNvSpPr/>
          <p:nvPr/>
        </p:nvSpPr>
        <p:spPr>
          <a:xfrm>
            <a:off x="16564000" y="8877554"/>
            <a:ext cx="0" cy="761492"/>
          </a:xfrm>
          <a:prstGeom prst="line">
            <a:avLst/>
          </a:prstGeom>
          <a:ln cap="flat" w="95250">
            <a:solidFill>
              <a:srgbClr val="BFDDD2"/>
            </a:solidFill>
            <a:prstDash val="solid"/>
            <a:headEnd type="none" len="sm" w="sm"/>
            <a:tailEnd type="none" len="sm" w="sm"/>
          </a:ln>
        </p:spPr>
      </p:sp>
      <p:sp>
        <p:nvSpPr>
          <p:cNvPr name="Freeform 10" id="10"/>
          <p:cNvSpPr/>
          <p:nvPr/>
        </p:nvSpPr>
        <p:spPr>
          <a:xfrm flipH="false" flipV="false" rot="0">
            <a:off x="16315549" y="677272"/>
            <a:ext cx="1452071" cy="1457537"/>
          </a:xfrm>
          <a:custGeom>
            <a:avLst/>
            <a:gdLst/>
            <a:ahLst/>
            <a:cxnLst/>
            <a:rect r="r" b="b" t="t" l="l"/>
            <a:pathLst>
              <a:path h="1457537" w="1452071">
                <a:moveTo>
                  <a:pt x="0" y="0"/>
                </a:moveTo>
                <a:lnTo>
                  <a:pt x="1452072" y="0"/>
                </a:lnTo>
                <a:lnTo>
                  <a:pt x="1452072" y="1457537"/>
                </a:lnTo>
                <a:lnTo>
                  <a:pt x="0" y="14575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555294" y="2275495"/>
            <a:ext cx="713130" cy="713130"/>
          </a:xfrm>
          <a:custGeom>
            <a:avLst/>
            <a:gdLst/>
            <a:ahLst/>
            <a:cxnLst/>
            <a:rect r="r" b="b" t="t" l="l"/>
            <a:pathLst>
              <a:path h="713130" w="713130">
                <a:moveTo>
                  <a:pt x="0" y="0"/>
                </a:moveTo>
                <a:lnTo>
                  <a:pt x="713131" y="0"/>
                </a:lnTo>
                <a:lnTo>
                  <a:pt x="713131" y="713130"/>
                </a:lnTo>
                <a:lnTo>
                  <a:pt x="0" y="713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546230" y="6885480"/>
            <a:ext cx="3984149" cy="3984149"/>
          </a:xfrm>
          <a:custGeom>
            <a:avLst/>
            <a:gdLst/>
            <a:ahLst/>
            <a:cxnLst/>
            <a:rect r="r" b="b" t="t" l="l"/>
            <a:pathLst>
              <a:path h="3984149" w="3984149">
                <a:moveTo>
                  <a:pt x="0" y="0"/>
                </a:moveTo>
                <a:lnTo>
                  <a:pt x="3984149" y="0"/>
                </a:lnTo>
                <a:lnTo>
                  <a:pt x="3984149" y="3984148"/>
                </a:lnTo>
                <a:lnTo>
                  <a:pt x="0" y="39841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2986928" y="7590541"/>
            <a:ext cx="1909190" cy="1546444"/>
          </a:xfrm>
          <a:custGeom>
            <a:avLst/>
            <a:gdLst/>
            <a:ahLst/>
            <a:cxnLst/>
            <a:rect r="r" b="b" t="t" l="l"/>
            <a:pathLst>
              <a:path h="1546444" w="1909190">
                <a:moveTo>
                  <a:pt x="0" y="0"/>
                </a:moveTo>
                <a:lnTo>
                  <a:pt x="1909190" y="0"/>
                </a:lnTo>
                <a:lnTo>
                  <a:pt x="1909190" y="1546444"/>
                </a:lnTo>
                <a:lnTo>
                  <a:pt x="0" y="154644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4745693" y="1611920"/>
            <a:ext cx="8796615" cy="1193800"/>
          </a:xfrm>
          <a:prstGeom prst="rect">
            <a:avLst/>
          </a:prstGeom>
        </p:spPr>
        <p:txBody>
          <a:bodyPr anchor="t" rtlCol="false" tIns="0" lIns="0" bIns="0" rIns="0">
            <a:spAutoFit/>
          </a:bodyPr>
          <a:lstStyle/>
          <a:p>
            <a:pPr algn="ctr">
              <a:lnSpc>
                <a:spcPts val="9799"/>
              </a:lnSpc>
            </a:pPr>
            <a:r>
              <a:rPr lang="en-US" sz="6999" b="true">
                <a:solidFill>
                  <a:srgbClr val="FFFFFF"/>
                </a:solidFill>
                <a:latin typeface="Glacial Indifference Bold"/>
                <a:ea typeface="Glacial Indifference Bold"/>
                <a:cs typeface="Glacial Indifference Bold"/>
                <a:sym typeface="Glacial Indifference Bold"/>
              </a:rPr>
              <a:t>Latar Belakang</a:t>
            </a:r>
          </a:p>
        </p:txBody>
      </p:sp>
      <p:sp>
        <p:nvSpPr>
          <p:cNvPr name="TextBox 15" id="15"/>
          <p:cNvSpPr txBox="true"/>
          <p:nvPr/>
        </p:nvSpPr>
        <p:spPr>
          <a:xfrm rot="0">
            <a:off x="2617979" y="3293425"/>
            <a:ext cx="13052042" cy="1809613"/>
          </a:xfrm>
          <a:prstGeom prst="rect">
            <a:avLst/>
          </a:prstGeom>
        </p:spPr>
        <p:txBody>
          <a:bodyPr anchor="t" rtlCol="false" tIns="0" lIns="0" bIns="0" rIns="0">
            <a:spAutoFit/>
          </a:bodyPr>
          <a:lstStyle/>
          <a:p>
            <a:pPr algn="ctr">
              <a:lnSpc>
                <a:spcPts val="4802"/>
              </a:lnSpc>
            </a:pPr>
            <a:r>
              <a:rPr lang="en-US" sz="3430">
                <a:solidFill>
                  <a:srgbClr val="FFFFFF"/>
                </a:solidFill>
                <a:latin typeface="Glacial Indifference"/>
                <a:ea typeface="Glacial Indifference"/>
                <a:cs typeface="Glacial Indifference"/>
                <a:sym typeface="Glacial Indifference"/>
              </a:rPr>
              <a:t>Masa kuliah adalah fase penting bagi mahasiswa untuk memperoleh ilmu dan pengalaman, tetapi juga penuh dengan tuntutan akademik yang berpotensi memengaruhi kesehatan fisik dan psikologis.</a:t>
            </a:r>
          </a:p>
        </p:txBody>
      </p:sp>
      <p:grpSp>
        <p:nvGrpSpPr>
          <p:cNvPr name="Group 16" id="16"/>
          <p:cNvGrpSpPr/>
          <p:nvPr/>
        </p:nvGrpSpPr>
        <p:grpSpPr>
          <a:xfrm rot="0">
            <a:off x="728554" y="471103"/>
            <a:ext cx="4008304" cy="1427108"/>
            <a:chOff x="0" y="0"/>
            <a:chExt cx="5344405" cy="1902811"/>
          </a:xfrm>
        </p:grpSpPr>
        <p:sp>
          <p:nvSpPr>
            <p:cNvPr name="Freeform 17" id="17"/>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0"/>
              <a:stretch>
                <a:fillRect l="0" t="0" r="0" b="0"/>
              </a:stretch>
            </a:blipFill>
          </p:spPr>
        </p:sp>
        <p:sp>
          <p:nvSpPr>
            <p:cNvPr name="TextBox 18" id="18"/>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
        <p:nvSpPr>
          <p:cNvPr name="TextBox 19" id="19"/>
          <p:cNvSpPr txBox="true"/>
          <p:nvPr/>
        </p:nvSpPr>
        <p:spPr>
          <a:xfrm rot="0">
            <a:off x="2732706" y="5516612"/>
            <a:ext cx="12937316" cy="3023313"/>
          </a:xfrm>
          <a:prstGeom prst="rect">
            <a:avLst/>
          </a:prstGeom>
        </p:spPr>
        <p:txBody>
          <a:bodyPr anchor="t" rtlCol="false" tIns="0" lIns="0" bIns="0" rIns="0">
            <a:spAutoFit/>
          </a:bodyPr>
          <a:lstStyle/>
          <a:p>
            <a:pPr algn="ctr">
              <a:lnSpc>
                <a:spcPts val="4802"/>
              </a:lnSpc>
            </a:pPr>
            <a:r>
              <a:rPr lang="en-US" sz="3430">
                <a:solidFill>
                  <a:srgbClr val="FFFFFF"/>
                </a:solidFill>
                <a:latin typeface="Glacial Indifference"/>
                <a:ea typeface="Glacial Indifference"/>
                <a:cs typeface="Glacial Indifference"/>
                <a:sym typeface="Glacial Indifference"/>
              </a:rPr>
              <a:t> Namun, tingginya tuntutan akademik dan ketatnya persaingan di lingkungan kampus sering kali menimbulkan stres dan kelelahan, yang jika dibiarkan dapat berdampak negatif pada kualitas hidup mahasiswa.</a:t>
            </a:r>
          </a:p>
          <a:p>
            <a:pPr algn="ctr">
              <a:lnSpc>
                <a:spcPts val="4802"/>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582268"/>
            <a:ext cx="18288000" cy="4865047"/>
            <a:chOff x="0" y="0"/>
            <a:chExt cx="4816593" cy="1281329"/>
          </a:xfrm>
        </p:grpSpPr>
        <p:sp>
          <p:nvSpPr>
            <p:cNvPr name="Freeform 3" id="3"/>
            <p:cNvSpPr/>
            <p:nvPr/>
          </p:nvSpPr>
          <p:spPr>
            <a:xfrm flipH="false" flipV="false" rot="0">
              <a:off x="0" y="0"/>
              <a:ext cx="4816592" cy="1281329"/>
            </a:xfrm>
            <a:custGeom>
              <a:avLst/>
              <a:gdLst/>
              <a:ahLst/>
              <a:cxnLst/>
              <a:rect r="r" b="b" t="t" l="l"/>
              <a:pathLst>
                <a:path h="1281329" w="4816592">
                  <a:moveTo>
                    <a:pt x="0" y="0"/>
                  </a:moveTo>
                  <a:lnTo>
                    <a:pt x="4816592" y="0"/>
                  </a:lnTo>
                  <a:lnTo>
                    <a:pt x="4816592" y="1281329"/>
                  </a:lnTo>
                  <a:lnTo>
                    <a:pt x="0" y="1281329"/>
                  </a:lnTo>
                  <a:close/>
                </a:path>
              </a:pathLst>
            </a:custGeom>
            <a:solidFill>
              <a:srgbClr val="5DA295"/>
            </a:solidFill>
          </p:spPr>
        </p:sp>
        <p:sp>
          <p:nvSpPr>
            <p:cNvPr name="TextBox 4" id="4"/>
            <p:cNvSpPr txBox="true"/>
            <p:nvPr/>
          </p:nvSpPr>
          <p:spPr>
            <a:xfrm>
              <a:off x="0" y="-38100"/>
              <a:ext cx="4816593" cy="131942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213565"/>
            <a:chOff x="0" y="0"/>
            <a:chExt cx="4816593" cy="56248"/>
          </a:xfrm>
        </p:grpSpPr>
        <p:sp>
          <p:nvSpPr>
            <p:cNvPr name="Freeform 6" id="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7" id="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02</a:t>
            </a:r>
          </a:p>
        </p:txBody>
      </p:sp>
      <p:sp>
        <p:nvSpPr>
          <p:cNvPr name="AutoShape 9" id="9"/>
          <p:cNvSpPr/>
          <p:nvPr/>
        </p:nvSpPr>
        <p:spPr>
          <a:xfrm>
            <a:off x="16564000" y="8877554"/>
            <a:ext cx="0" cy="761492"/>
          </a:xfrm>
          <a:prstGeom prst="line">
            <a:avLst/>
          </a:prstGeom>
          <a:ln cap="flat" w="95250">
            <a:solidFill>
              <a:srgbClr val="BFDDD2"/>
            </a:solidFill>
            <a:prstDash val="solid"/>
            <a:headEnd type="none" len="sm" w="sm"/>
            <a:tailEnd type="none" len="sm" w="sm"/>
          </a:ln>
        </p:spPr>
      </p:sp>
      <p:grpSp>
        <p:nvGrpSpPr>
          <p:cNvPr name="Group 10" id="10"/>
          <p:cNvGrpSpPr/>
          <p:nvPr/>
        </p:nvGrpSpPr>
        <p:grpSpPr>
          <a:xfrm rot="0">
            <a:off x="6609650" y="2924809"/>
            <a:ext cx="5068699" cy="5514595"/>
            <a:chOff x="0" y="0"/>
            <a:chExt cx="1334966" cy="1452404"/>
          </a:xfrm>
        </p:grpSpPr>
        <p:sp>
          <p:nvSpPr>
            <p:cNvPr name="Freeform 11" id="11"/>
            <p:cNvSpPr/>
            <p:nvPr/>
          </p:nvSpPr>
          <p:spPr>
            <a:xfrm flipH="false" flipV="false" rot="0">
              <a:off x="0" y="0"/>
              <a:ext cx="1334966" cy="1452404"/>
            </a:xfrm>
            <a:custGeom>
              <a:avLst/>
              <a:gdLst/>
              <a:ahLst/>
              <a:cxnLst/>
              <a:rect r="r" b="b" t="t" l="l"/>
              <a:pathLst>
                <a:path h="1452404" w="1334966">
                  <a:moveTo>
                    <a:pt x="0" y="0"/>
                  </a:moveTo>
                  <a:lnTo>
                    <a:pt x="1334966" y="0"/>
                  </a:lnTo>
                  <a:lnTo>
                    <a:pt x="1334966" y="1452404"/>
                  </a:lnTo>
                  <a:lnTo>
                    <a:pt x="0" y="1452404"/>
                  </a:lnTo>
                  <a:close/>
                </a:path>
              </a:pathLst>
            </a:custGeom>
            <a:solidFill>
              <a:srgbClr val="E4E4E4"/>
            </a:solidFill>
          </p:spPr>
        </p:sp>
        <p:sp>
          <p:nvSpPr>
            <p:cNvPr name="TextBox 12" id="12"/>
            <p:cNvSpPr txBox="true"/>
            <p:nvPr/>
          </p:nvSpPr>
          <p:spPr>
            <a:xfrm>
              <a:off x="0" y="-38100"/>
              <a:ext cx="1334966" cy="1490504"/>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540951" y="2924809"/>
            <a:ext cx="5068699" cy="5514595"/>
            <a:chOff x="0" y="0"/>
            <a:chExt cx="1334966" cy="1452404"/>
          </a:xfrm>
        </p:grpSpPr>
        <p:sp>
          <p:nvSpPr>
            <p:cNvPr name="Freeform 14" id="14"/>
            <p:cNvSpPr/>
            <p:nvPr/>
          </p:nvSpPr>
          <p:spPr>
            <a:xfrm flipH="false" flipV="false" rot="0">
              <a:off x="0" y="0"/>
              <a:ext cx="1334966" cy="1452404"/>
            </a:xfrm>
            <a:custGeom>
              <a:avLst/>
              <a:gdLst/>
              <a:ahLst/>
              <a:cxnLst/>
              <a:rect r="r" b="b" t="t" l="l"/>
              <a:pathLst>
                <a:path h="1452404" w="1334966">
                  <a:moveTo>
                    <a:pt x="0" y="0"/>
                  </a:moveTo>
                  <a:lnTo>
                    <a:pt x="1334966" y="0"/>
                  </a:lnTo>
                  <a:lnTo>
                    <a:pt x="1334966" y="1452404"/>
                  </a:lnTo>
                  <a:lnTo>
                    <a:pt x="0" y="1452404"/>
                  </a:lnTo>
                  <a:close/>
                </a:path>
              </a:pathLst>
            </a:custGeom>
            <a:solidFill>
              <a:srgbClr val="BFDDD2"/>
            </a:solidFill>
          </p:spPr>
        </p:sp>
        <p:sp>
          <p:nvSpPr>
            <p:cNvPr name="TextBox 15" id="15"/>
            <p:cNvSpPr txBox="true"/>
            <p:nvPr/>
          </p:nvSpPr>
          <p:spPr>
            <a:xfrm>
              <a:off x="0" y="-38100"/>
              <a:ext cx="1334966" cy="1490504"/>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1678350" y="2924809"/>
            <a:ext cx="5068699" cy="5514595"/>
            <a:chOff x="0" y="0"/>
            <a:chExt cx="1334966" cy="1452404"/>
          </a:xfrm>
        </p:grpSpPr>
        <p:sp>
          <p:nvSpPr>
            <p:cNvPr name="Freeform 17" id="17"/>
            <p:cNvSpPr/>
            <p:nvPr/>
          </p:nvSpPr>
          <p:spPr>
            <a:xfrm flipH="false" flipV="false" rot="0">
              <a:off x="0" y="0"/>
              <a:ext cx="1334966" cy="1452404"/>
            </a:xfrm>
            <a:custGeom>
              <a:avLst/>
              <a:gdLst/>
              <a:ahLst/>
              <a:cxnLst/>
              <a:rect r="r" b="b" t="t" l="l"/>
              <a:pathLst>
                <a:path h="1452404" w="1334966">
                  <a:moveTo>
                    <a:pt x="0" y="0"/>
                  </a:moveTo>
                  <a:lnTo>
                    <a:pt x="1334966" y="0"/>
                  </a:lnTo>
                  <a:lnTo>
                    <a:pt x="1334966" y="1452404"/>
                  </a:lnTo>
                  <a:lnTo>
                    <a:pt x="0" y="1452404"/>
                  </a:lnTo>
                  <a:close/>
                </a:path>
              </a:pathLst>
            </a:custGeom>
            <a:solidFill>
              <a:srgbClr val="BFDDD2"/>
            </a:solidFill>
          </p:spPr>
        </p:sp>
        <p:sp>
          <p:nvSpPr>
            <p:cNvPr name="TextBox 18" id="18"/>
            <p:cNvSpPr txBox="true"/>
            <p:nvPr/>
          </p:nvSpPr>
          <p:spPr>
            <a:xfrm>
              <a:off x="0" y="-38100"/>
              <a:ext cx="1334966" cy="1490504"/>
            </a:xfrm>
            <a:prstGeom prst="rect">
              <a:avLst/>
            </a:prstGeom>
          </p:spPr>
          <p:txBody>
            <a:bodyPr anchor="ctr" rtlCol="false" tIns="50800" lIns="50800" bIns="50800" rIns="50800"/>
            <a:lstStyle/>
            <a:p>
              <a:pPr algn="ctr">
                <a:lnSpc>
                  <a:spcPts val="2659"/>
                </a:lnSpc>
              </a:pPr>
            </a:p>
          </p:txBody>
        </p:sp>
      </p:grpSp>
      <p:sp>
        <p:nvSpPr>
          <p:cNvPr name="Freeform 19" id="19"/>
          <p:cNvSpPr/>
          <p:nvPr/>
        </p:nvSpPr>
        <p:spPr>
          <a:xfrm flipH="false" flipV="false" rot="0">
            <a:off x="632097" y="8513811"/>
            <a:ext cx="908854" cy="908854"/>
          </a:xfrm>
          <a:custGeom>
            <a:avLst/>
            <a:gdLst/>
            <a:ahLst/>
            <a:cxnLst/>
            <a:rect r="r" b="b" t="t" l="l"/>
            <a:pathLst>
              <a:path h="908854" w="908854">
                <a:moveTo>
                  <a:pt x="0" y="0"/>
                </a:moveTo>
                <a:lnTo>
                  <a:pt x="908854" y="0"/>
                </a:lnTo>
                <a:lnTo>
                  <a:pt x="908854" y="908855"/>
                </a:lnTo>
                <a:lnTo>
                  <a:pt x="0" y="9088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5689422" y="598254"/>
            <a:ext cx="3659497" cy="3659497"/>
          </a:xfrm>
          <a:custGeom>
            <a:avLst/>
            <a:gdLst/>
            <a:ahLst/>
            <a:cxnLst/>
            <a:rect r="r" b="b" t="t" l="l"/>
            <a:pathLst>
              <a:path h="3659497" w="3659497">
                <a:moveTo>
                  <a:pt x="0" y="0"/>
                </a:moveTo>
                <a:lnTo>
                  <a:pt x="3659496" y="0"/>
                </a:lnTo>
                <a:lnTo>
                  <a:pt x="3659496" y="3659497"/>
                </a:lnTo>
                <a:lnTo>
                  <a:pt x="0" y="36594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540951" y="9422666"/>
            <a:ext cx="2906260" cy="1659483"/>
          </a:xfrm>
          <a:custGeom>
            <a:avLst/>
            <a:gdLst/>
            <a:ahLst/>
            <a:cxnLst/>
            <a:rect r="r" b="b" t="t" l="l"/>
            <a:pathLst>
              <a:path h="1659483" w="2906260">
                <a:moveTo>
                  <a:pt x="0" y="0"/>
                </a:moveTo>
                <a:lnTo>
                  <a:pt x="2906260" y="0"/>
                </a:lnTo>
                <a:lnTo>
                  <a:pt x="2906260" y="1659482"/>
                </a:lnTo>
                <a:lnTo>
                  <a:pt x="0" y="1659482"/>
                </a:lnTo>
                <a:lnTo>
                  <a:pt x="0" y="0"/>
                </a:lnTo>
                <a:close/>
              </a:path>
            </a:pathLst>
          </a:custGeom>
          <a:blipFill>
            <a:blip r:embed="rId6">
              <a:extLst>
                <a:ext uri="{96DAC541-7B7A-43D3-8B79-37D633B846F1}">
                  <asvg:svgBlip xmlns:asvg="http://schemas.microsoft.com/office/drawing/2016/SVG/main" r:embed="rId7"/>
                </a:ext>
              </a:extLst>
            </a:blip>
            <a:stretch>
              <a:fillRect l="0" t="0" r="0" b="-84590"/>
            </a:stretch>
          </a:blipFill>
        </p:spPr>
      </p:sp>
      <p:sp>
        <p:nvSpPr>
          <p:cNvPr name="TextBox 22" id="22"/>
          <p:cNvSpPr txBox="true"/>
          <p:nvPr/>
        </p:nvSpPr>
        <p:spPr>
          <a:xfrm rot="0">
            <a:off x="6871904" y="4784287"/>
            <a:ext cx="4558011" cy="3347819"/>
          </a:xfrm>
          <a:prstGeom prst="rect">
            <a:avLst/>
          </a:prstGeom>
        </p:spPr>
        <p:txBody>
          <a:bodyPr anchor="t" rtlCol="false" tIns="0" lIns="0" bIns="0" rIns="0">
            <a:spAutoFit/>
          </a:bodyPr>
          <a:lstStyle/>
          <a:p>
            <a:pPr algn="ctr">
              <a:lnSpc>
                <a:spcPts val="4480"/>
              </a:lnSpc>
            </a:pPr>
            <a:r>
              <a:rPr lang="en-US" sz="3200">
                <a:solidFill>
                  <a:srgbClr val="000000"/>
                </a:solidFill>
                <a:latin typeface="Glacial Indifference"/>
                <a:ea typeface="Glacial Indifference"/>
                <a:cs typeface="Glacial Indifference"/>
                <a:sym typeface="Glacial Indifference"/>
              </a:rPr>
              <a:t>Mengidentifikasi faktor-faktor kegiatan perkuliahan yang berdampak pada kesehatan psikologis mahasiswa aktif di PENS.</a:t>
            </a:r>
          </a:p>
        </p:txBody>
      </p:sp>
      <p:sp>
        <p:nvSpPr>
          <p:cNvPr name="TextBox 23" id="23"/>
          <p:cNvSpPr txBox="true"/>
          <p:nvPr/>
        </p:nvSpPr>
        <p:spPr>
          <a:xfrm rot="0">
            <a:off x="4718528" y="1490623"/>
            <a:ext cx="8850944" cy="1193800"/>
          </a:xfrm>
          <a:prstGeom prst="rect">
            <a:avLst/>
          </a:prstGeom>
        </p:spPr>
        <p:txBody>
          <a:bodyPr anchor="t" rtlCol="false" tIns="0" lIns="0" bIns="0" rIns="0">
            <a:spAutoFit/>
          </a:bodyPr>
          <a:lstStyle/>
          <a:p>
            <a:pPr algn="ctr">
              <a:lnSpc>
                <a:spcPts val="9799"/>
              </a:lnSpc>
            </a:pPr>
            <a:r>
              <a:rPr lang="en-US" sz="6999" b="true">
                <a:solidFill>
                  <a:srgbClr val="000000"/>
                </a:solidFill>
                <a:latin typeface="Glacial Indifference Bold"/>
                <a:ea typeface="Glacial Indifference Bold"/>
                <a:cs typeface="Glacial Indifference Bold"/>
                <a:sym typeface="Glacial Indifference Bold"/>
              </a:rPr>
              <a:t>Tujuan Penelitian</a:t>
            </a:r>
          </a:p>
        </p:txBody>
      </p:sp>
      <p:sp>
        <p:nvSpPr>
          <p:cNvPr name="TextBox 24" id="24"/>
          <p:cNvSpPr txBox="true"/>
          <p:nvPr/>
        </p:nvSpPr>
        <p:spPr>
          <a:xfrm rot="0">
            <a:off x="1878104" y="4736662"/>
            <a:ext cx="4394394" cy="3347819"/>
          </a:xfrm>
          <a:prstGeom prst="rect">
            <a:avLst/>
          </a:prstGeom>
        </p:spPr>
        <p:txBody>
          <a:bodyPr anchor="t" rtlCol="false" tIns="0" lIns="0" bIns="0" rIns="0">
            <a:spAutoFit/>
          </a:bodyPr>
          <a:lstStyle/>
          <a:p>
            <a:pPr algn="ctr">
              <a:lnSpc>
                <a:spcPts val="4480"/>
              </a:lnSpc>
            </a:pPr>
            <a:r>
              <a:rPr lang="en-US" sz="3200">
                <a:solidFill>
                  <a:srgbClr val="000000"/>
                </a:solidFill>
                <a:latin typeface="Glacial Indifference"/>
                <a:ea typeface="Glacial Indifference"/>
                <a:cs typeface="Glacial Indifference"/>
                <a:sym typeface="Glacial Indifference"/>
              </a:rPr>
              <a:t>Mengidentifikasi faktor-faktor kegiatan perkuliahan yang mempengaruhi kesehatan fisik mahasiswa aktif di PENS.</a:t>
            </a:r>
          </a:p>
        </p:txBody>
      </p:sp>
      <p:sp>
        <p:nvSpPr>
          <p:cNvPr name="TextBox 25" id="25"/>
          <p:cNvSpPr txBox="true"/>
          <p:nvPr/>
        </p:nvSpPr>
        <p:spPr>
          <a:xfrm rot="0">
            <a:off x="3312601" y="3151066"/>
            <a:ext cx="1525399" cy="721996"/>
          </a:xfrm>
          <a:prstGeom prst="rect">
            <a:avLst/>
          </a:prstGeom>
        </p:spPr>
        <p:txBody>
          <a:bodyPr anchor="t" rtlCol="false" tIns="0" lIns="0" bIns="0" rIns="0">
            <a:spAutoFit/>
          </a:bodyPr>
          <a:lstStyle/>
          <a:p>
            <a:pPr algn="ctr">
              <a:lnSpc>
                <a:spcPts val="5879"/>
              </a:lnSpc>
            </a:pPr>
            <a:r>
              <a:rPr lang="en-US" sz="4199" b="true">
                <a:solidFill>
                  <a:srgbClr val="000000"/>
                </a:solidFill>
                <a:latin typeface="Glacial Indifference Bold"/>
                <a:ea typeface="Glacial Indifference Bold"/>
                <a:cs typeface="Glacial Indifference Bold"/>
                <a:sym typeface="Glacial Indifference Bold"/>
              </a:rPr>
              <a:t>01.</a:t>
            </a:r>
          </a:p>
        </p:txBody>
      </p:sp>
      <p:sp>
        <p:nvSpPr>
          <p:cNvPr name="TextBox 26" id="26"/>
          <p:cNvSpPr txBox="true"/>
          <p:nvPr/>
        </p:nvSpPr>
        <p:spPr>
          <a:xfrm rot="0">
            <a:off x="8385672" y="3151067"/>
            <a:ext cx="1516656" cy="721995"/>
          </a:xfrm>
          <a:prstGeom prst="rect">
            <a:avLst/>
          </a:prstGeom>
        </p:spPr>
        <p:txBody>
          <a:bodyPr anchor="t" rtlCol="false" tIns="0" lIns="0" bIns="0" rIns="0">
            <a:spAutoFit/>
          </a:bodyPr>
          <a:lstStyle/>
          <a:p>
            <a:pPr algn="ctr">
              <a:lnSpc>
                <a:spcPts val="5879"/>
              </a:lnSpc>
            </a:pPr>
            <a:r>
              <a:rPr lang="en-US" sz="4199" b="true">
                <a:solidFill>
                  <a:srgbClr val="000000"/>
                </a:solidFill>
                <a:latin typeface="Glacial Indifference Bold"/>
                <a:ea typeface="Glacial Indifference Bold"/>
                <a:cs typeface="Glacial Indifference Bold"/>
                <a:sym typeface="Glacial Indifference Bold"/>
              </a:rPr>
              <a:t>02.</a:t>
            </a:r>
          </a:p>
        </p:txBody>
      </p:sp>
      <p:sp>
        <p:nvSpPr>
          <p:cNvPr name="TextBox 27" id="27"/>
          <p:cNvSpPr txBox="true"/>
          <p:nvPr/>
        </p:nvSpPr>
        <p:spPr>
          <a:xfrm rot="0">
            <a:off x="13493350" y="3151067"/>
            <a:ext cx="1438698" cy="721995"/>
          </a:xfrm>
          <a:prstGeom prst="rect">
            <a:avLst/>
          </a:prstGeom>
        </p:spPr>
        <p:txBody>
          <a:bodyPr anchor="t" rtlCol="false" tIns="0" lIns="0" bIns="0" rIns="0">
            <a:spAutoFit/>
          </a:bodyPr>
          <a:lstStyle/>
          <a:p>
            <a:pPr algn="ctr">
              <a:lnSpc>
                <a:spcPts val="5879"/>
              </a:lnSpc>
            </a:pPr>
            <a:r>
              <a:rPr lang="en-US" sz="4199" b="true">
                <a:solidFill>
                  <a:srgbClr val="000000"/>
                </a:solidFill>
                <a:latin typeface="Glacial Indifference Bold"/>
                <a:ea typeface="Glacial Indifference Bold"/>
                <a:cs typeface="Glacial Indifference Bold"/>
                <a:sym typeface="Glacial Indifference Bold"/>
              </a:rPr>
              <a:t>03.</a:t>
            </a:r>
          </a:p>
        </p:txBody>
      </p:sp>
      <p:sp>
        <p:nvSpPr>
          <p:cNvPr name="TextBox 28" id="28"/>
          <p:cNvSpPr txBox="true"/>
          <p:nvPr/>
        </p:nvSpPr>
        <p:spPr>
          <a:xfrm rot="0">
            <a:off x="11678350" y="4784386"/>
            <a:ext cx="5068699" cy="3347819"/>
          </a:xfrm>
          <a:prstGeom prst="rect">
            <a:avLst/>
          </a:prstGeom>
        </p:spPr>
        <p:txBody>
          <a:bodyPr anchor="t" rtlCol="false" tIns="0" lIns="0" bIns="0" rIns="0">
            <a:spAutoFit/>
          </a:bodyPr>
          <a:lstStyle/>
          <a:p>
            <a:pPr algn="ctr">
              <a:lnSpc>
                <a:spcPts val="4480"/>
              </a:lnSpc>
            </a:pPr>
            <a:r>
              <a:rPr lang="en-US" sz="3200">
                <a:solidFill>
                  <a:srgbClr val="000000"/>
                </a:solidFill>
                <a:latin typeface="Glacial Indifference"/>
                <a:ea typeface="Glacial Indifference"/>
                <a:cs typeface="Glacial Indifference"/>
                <a:sym typeface="Glacial Indifference"/>
              </a:rPr>
              <a:t>Menentukan faktor-faktor perkuliahan yang memiliki pengaruh paling besar terhadap kondisi kesehatan fisik dan psikologis mahasiswa aktif di PENS.</a:t>
            </a:r>
          </a:p>
        </p:txBody>
      </p:sp>
      <p:sp>
        <p:nvSpPr>
          <p:cNvPr name="TextBox 29" id="29"/>
          <p:cNvSpPr txBox="true"/>
          <p:nvPr/>
        </p:nvSpPr>
        <p:spPr>
          <a:xfrm rot="0">
            <a:off x="2442749" y="4015937"/>
            <a:ext cx="3265103" cy="606425"/>
          </a:xfrm>
          <a:prstGeom prst="rect">
            <a:avLst/>
          </a:prstGeom>
        </p:spPr>
        <p:txBody>
          <a:bodyPr anchor="t" rtlCol="false" tIns="0" lIns="0" bIns="0" rIns="0">
            <a:spAutoFit/>
          </a:bodyPr>
          <a:lstStyle/>
          <a:p>
            <a:pPr algn="ctr">
              <a:lnSpc>
                <a:spcPts val="4900"/>
              </a:lnSpc>
            </a:pPr>
            <a:r>
              <a:rPr lang="en-US" sz="3500" b="true">
                <a:solidFill>
                  <a:srgbClr val="000000"/>
                </a:solidFill>
                <a:latin typeface="Glacial Indifference Bold"/>
                <a:ea typeface="Glacial Indifference Bold"/>
                <a:cs typeface="Glacial Indifference Bold"/>
                <a:sym typeface="Glacial Indifference Bold"/>
              </a:rPr>
              <a:t>Tujuan Satu</a:t>
            </a:r>
          </a:p>
        </p:txBody>
      </p:sp>
      <p:sp>
        <p:nvSpPr>
          <p:cNvPr name="TextBox 30" id="30"/>
          <p:cNvSpPr txBox="true"/>
          <p:nvPr/>
        </p:nvSpPr>
        <p:spPr>
          <a:xfrm rot="0">
            <a:off x="7511449" y="4015937"/>
            <a:ext cx="3265103" cy="606425"/>
          </a:xfrm>
          <a:prstGeom prst="rect">
            <a:avLst/>
          </a:prstGeom>
        </p:spPr>
        <p:txBody>
          <a:bodyPr anchor="t" rtlCol="false" tIns="0" lIns="0" bIns="0" rIns="0">
            <a:spAutoFit/>
          </a:bodyPr>
          <a:lstStyle/>
          <a:p>
            <a:pPr algn="ctr">
              <a:lnSpc>
                <a:spcPts val="4900"/>
              </a:lnSpc>
            </a:pPr>
            <a:r>
              <a:rPr lang="en-US" sz="3500" b="true">
                <a:solidFill>
                  <a:srgbClr val="000000"/>
                </a:solidFill>
                <a:latin typeface="Glacial Indifference Bold"/>
                <a:ea typeface="Glacial Indifference Bold"/>
                <a:cs typeface="Glacial Indifference Bold"/>
                <a:sym typeface="Glacial Indifference Bold"/>
              </a:rPr>
              <a:t>Tujuan Dua</a:t>
            </a:r>
          </a:p>
        </p:txBody>
      </p:sp>
      <p:sp>
        <p:nvSpPr>
          <p:cNvPr name="TextBox 31" id="31"/>
          <p:cNvSpPr txBox="true"/>
          <p:nvPr/>
        </p:nvSpPr>
        <p:spPr>
          <a:xfrm rot="0">
            <a:off x="12580148" y="4015937"/>
            <a:ext cx="3265103" cy="606425"/>
          </a:xfrm>
          <a:prstGeom prst="rect">
            <a:avLst/>
          </a:prstGeom>
        </p:spPr>
        <p:txBody>
          <a:bodyPr anchor="t" rtlCol="false" tIns="0" lIns="0" bIns="0" rIns="0">
            <a:spAutoFit/>
          </a:bodyPr>
          <a:lstStyle/>
          <a:p>
            <a:pPr algn="ctr">
              <a:lnSpc>
                <a:spcPts val="4900"/>
              </a:lnSpc>
            </a:pPr>
            <a:r>
              <a:rPr lang="en-US" sz="3500" b="true">
                <a:solidFill>
                  <a:srgbClr val="000000"/>
                </a:solidFill>
                <a:latin typeface="Glacial Indifference Bold"/>
                <a:ea typeface="Glacial Indifference Bold"/>
                <a:cs typeface="Glacial Indifference Bold"/>
                <a:sym typeface="Glacial Indifference Bold"/>
              </a:rPr>
              <a:t>Tujuan Tiga</a:t>
            </a:r>
          </a:p>
        </p:txBody>
      </p:sp>
      <p:grpSp>
        <p:nvGrpSpPr>
          <p:cNvPr name="Group 32" id="32"/>
          <p:cNvGrpSpPr/>
          <p:nvPr/>
        </p:nvGrpSpPr>
        <p:grpSpPr>
          <a:xfrm rot="0">
            <a:off x="728554" y="471103"/>
            <a:ext cx="4008304" cy="1427108"/>
            <a:chOff x="0" y="0"/>
            <a:chExt cx="5344405" cy="1902811"/>
          </a:xfrm>
        </p:grpSpPr>
        <p:sp>
          <p:nvSpPr>
            <p:cNvPr name="Freeform 33" id="33"/>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8"/>
              <a:stretch>
                <a:fillRect l="0" t="0" r="0" b="0"/>
              </a:stretch>
            </a:blipFill>
          </p:spPr>
        </p:sp>
        <p:sp>
          <p:nvSpPr>
            <p:cNvPr name="TextBox 34" id="34"/>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02049" y="6833950"/>
            <a:ext cx="5973602" cy="5973602"/>
          </a:xfrm>
          <a:custGeom>
            <a:avLst/>
            <a:gdLst/>
            <a:ahLst/>
            <a:cxnLst/>
            <a:rect r="r" b="b" t="t" l="l"/>
            <a:pathLst>
              <a:path h="5973602" w="5973602">
                <a:moveTo>
                  <a:pt x="0" y="0"/>
                </a:moveTo>
                <a:lnTo>
                  <a:pt x="5973601" y="0"/>
                </a:lnTo>
                <a:lnTo>
                  <a:pt x="5973601" y="5973602"/>
                </a:lnTo>
                <a:lnTo>
                  <a:pt x="0" y="5973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0073435"/>
            <a:ext cx="18288000" cy="213565"/>
            <a:chOff x="0" y="0"/>
            <a:chExt cx="4816593" cy="56248"/>
          </a:xfrm>
        </p:grpSpPr>
        <p:sp>
          <p:nvSpPr>
            <p:cNvPr name="Freeform 4" id="4"/>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5" id="5"/>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0" y="0"/>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7060245" y="4213907"/>
            <a:ext cx="11329315" cy="0"/>
          </a:xfrm>
          <a:prstGeom prst="line">
            <a:avLst/>
          </a:prstGeom>
          <a:ln cap="flat" w="38100">
            <a:solidFill>
              <a:srgbClr val="5DA295"/>
            </a:solidFill>
            <a:prstDash val="solid"/>
            <a:headEnd type="none" len="sm" w="sm"/>
            <a:tailEnd type="none" len="sm" w="sm"/>
          </a:ln>
        </p:spPr>
      </p:sp>
      <p:sp>
        <p:nvSpPr>
          <p:cNvPr name="AutoShape 10" id="10"/>
          <p:cNvSpPr/>
          <p:nvPr/>
        </p:nvSpPr>
        <p:spPr>
          <a:xfrm>
            <a:off x="7060245" y="5734674"/>
            <a:ext cx="11329315" cy="0"/>
          </a:xfrm>
          <a:prstGeom prst="line">
            <a:avLst/>
          </a:prstGeom>
          <a:ln cap="flat" w="38100">
            <a:solidFill>
              <a:srgbClr val="5DA295"/>
            </a:solidFill>
            <a:prstDash val="solid"/>
            <a:headEnd type="none" len="sm" w="sm"/>
            <a:tailEnd type="none" len="sm" w="sm"/>
          </a:ln>
        </p:spPr>
      </p:sp>
      <p:sp>
        <p:nvSpPr>
          <p:cNvPr name="AutoShape 11" id="11"/>
          <p:cNvSpPr/>
          <p:nvPr/>
        </p:nvSpPr>
        <p:spPr>
          <a:xfrm>
            <a:off x="7060245" y="7255441"/>
            <a:ext cx="11329315" cy="0"/>
          </a:xfrm>
          <a:prstGeom prst="line">
            <a:avLst/>
          </a:prstGeom>
          <a:ln cap="flat" w="38100">
            <a:solidFill>
              <a:srgbClr val="5DA295"/>
            </a:solidFill>
            <a:prstDash val="solid"/>
            <a:headEnd type="none" len="sm" w="sm"/>
            <a:tailEnd type="none" len="sm" w="sm"/>
          </a:ln>
        </p:spPr>
      </p:sp>
      <p:sp>
        <p:nvSpPr>
          <p:cNvPr name="Freeform 12" id="12"/>
          <p:cNvSpPr/>
          <p:nvPr/>
        </p:nvSpPr>
        <p:spPr>
          <a:xfrm flipH="false" flipV="false" rot="0">
            <a:off x="4138092" y="6650005"/>
            <a:ext cx="1210872" cy="1210872"/>
          </a:xfrm>
          <a:custGeom>
            <a:avLst/>
            <a:gdLst/>
            <a:ahLst/>
            <a:cxnLst/>
            <a:rect r="r" b="b" t="t" l="l"/>
            <a:pathLst>
              <a:path h="1210872" w="1210872">
                <a:moveTo>
                  <a:pt x="0" y="0"/>
                </a:moveTo>
                <a:lnTo>
                  <a:pt x="1210872" y="0"/>
                </a:lnTo>
                <a:lnTo>
                  <a:pt x="1210872" y="1210872"/>
                </a:lnTo>
                <a:lnTo>
                  <a:pt x="0" y="1210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03</a:t>
            </a:r>
          </a:p>
        </p:txBody>
      </p:sp>
      <p:sp>
        <p:nvSpPr>
          <p:cNvPr name="AutoShape 14" id="14"/>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5" id="15"/>
          <p:cNvSpPr/>
          <p:nvPr/>
        </p:nvSpPr>
        <p:spPr>
          <a:xfrm flipH="false" flipV="false" rot="0">
            <a:off x="16893853" y="567841"/>
            <a:ext cx="1082627" cy="1082627"/>
          </a:xfrm>
          <a:custGeom>
            <a:avLst/>
            <a:gdLst/>
            <a:ahLst/>
            <a:cxnLst/>
            <a:rect r="r" b="b" t="t" l="l"/>
            <a:pathLst>
              <a:path h="1082627" w="1082627">
                <a:moveTo>
                  <a:pt x="0" y="0"/>
                </a:moveTo>
                <a:lnTo>
                  <a:pt x="1082626" y="0"/>
                </a:lnTo>
                <a:lnTo>
                  <a:pt x="1082626" y="1082627"/>
                </a:lnTo>
                <a:lnTo>
                  <a:pt x="0" y="10826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1517951" y="2801438"/>
            <a:ext cx="4727341" cy="2432050"/>
          </a:xfrm>
          <a:prstGeom prst="rect">
            <a:avLst/>
          </a:prstGeom>
        </p:spPr>
        <p:txBody>
          <a:bodyPr anchor="t" rtlCol="false" tIns="0" lIns="0" bIns="0" rIns="0">
            <a:spAutoFit/>
          </a:bodyPr>
          <a:lstStyle/>
          <a:p>
            <a:pPr algn="l">
              <a:lnSpc>
                <a:spcPts val="9799"/>
              </a:lnSpc>
            </a:pPr>
            <a:r>
              <a:rPr lang="en-US" sz="6999" b="true">
                <a:solidFill>
                  <a:srgbClr val="000000"/>
                </a:solidFill>
                <a:latin typeface="Glacial Indifference Bold"/>
                <a:ea typeface="Glacial Indifference Bold"/>
                <a:cs typeface="Glacial Indifference Bold"/>
                <a:sym typeface="Glacial Indifference Bold"/>
              </a:rPr>
              <a:t>Rumusan Masalah</a:t>
            </a:r>
          </a:p>
        </p:txBody>
      </p:sp>
      <p:sp>
        <p:nvSpPr>
          <p:cNvPr name="TextBox 17" id="17"/>
          <p:cNvSpPr txBox="true"/>
          <p:nvPr/>
        </p:nvSpPr>
        <p:spPr>
          <a:xfrm rot="0">
            <a:off x="8168290" y="3028069"/>
            <a:ext cx="10048318" cy="1661845"/>
          </a:xfrm>
          <a:prstGeom prst="rect">
            <a:avLst/>
          </a:prstGeom>
        </p:spPr>
        <p:txBody>
          <a:bodyPr anchor="t" rtlCol="false" tIns="0" lIns="0" bIns="0" rIns="0">
            <a:spAutoFit/>
          </a:bodyPr>
          <a:lstStyle/>
          <a:p>
            <a:pPr algn="l">
              <a:lnSpc>
                <a:spcPts val="4480"/>
              </a:lnSpc>
            </a:pPr>
            <a:r>
              <a:rPr lang="en-US" sz="3200">
                <a:solidFill>
                  <a:srgbClr val="000000"/>
                </a:solidFill>
                <a:latin typeface="Glacial Indifference"/>
                <a:ea typeface="Glacial Indifference"/>
                <a:cs typeface="Glacial Indifference"/>
                <a:sym typeface="Glacial Indifference"/>
              </a:rPr>
              <a:t>Apa saja faktor kegiatan perkuliahan yang berpengaruh terhadap kesehatan fisik mahasiswa aktif di PENS?</a:t>
            </a:r>
          </a:p>
          <a:p>
            <a:pPr algn="l">
              <a:lnSpc>
                <a:spcPts val="4480"/>
              </a:lnSpc>
            </a:pPr>
          </a:p>
        </p:txBody>
      </p:sp>
      <p:sp>
        <p:nvSpPr>
          <p:cNvPr name="TextBox 18" id="18"/>
          <p:cNvSpPr txBox="true"/>
          <p:nvPr/>
        </p:nvSpPr>
        <p:spPr>
          <a:xfrm rot="0">
            <a:off x="6849967" y="3112555"/>
            <a:ext cx="938336" cy="762001"/>
          </a:xfrm>
          <a:prstGeom prst="rect">
            <a:avLst/>
          </a:prstGeom>
        </p:spPr>
        <p:txBody>
          <a:bodyPr anchor="t" rtlCol="false" tIns="0" lIns="0" bIns="0" rIns="0">
            <a:spAutoFit/>
          </a:bodyPr>
          <a:lstStyle/>
          <a:p>
            <a:pPr algn="r">
              <a:lnSpc>
                <a:spcPts val="6299"/>
              </a:lnSpc>
            </a:pPr>
            <a:r>
              <a:rPr lang="en-US" sz="4499" b="true">
                <a:solidFill>
                  <a:srgbClr val="5DA295"/>
                </a:solidFill>
                <a:latin typeface="Glacial Indifference Bold"/>
                <a:ea typeface="Glacial Indifference Bold"/>
                <a:cs typeface="Glacial Indifference Bold"/>
                <a:sym typeface="Glacial Indifference Bold"/>
              </a:rPr>
              <a:t>01.</a:t>
            </a:r>
          </a:p>
        </p:txBody>
      </p:sp>
      <p:sp>
        <p:nvSpPr>
          <p:cNvPr name="TextBox 19" id="19"/>
          <p:cNvSpPr txBox="true"/>
          <p:nvPr/>
        </p:nvSpPr>
        <p:spPr>
          <a:xfrm rot="0">
            <a:off x="6758233" y="4597839"/>
            <a:ext cx="1096746" cy="762001"/>
          </a:xfrm>
          <a:prstGeom prst="rect">
            <a:avLst/>
          </a:prstGeom>
        </p:spPr>
        <p:txBody>
          <a:bodyPr anchor="t" rtlCol="false" tIns="0" lIns="0" bIns="0" rIns="0">
            <a:spAutoFit/>
          </a:bodyPr>
          <a:lstStyle/>
          <a:p>
            <a:pPr algn="r">
              <a:lnSpc>
                <a:spcPts val="6299"/>
              </a:lnSpc>
            </a:pPr>
            <a:r>
              <a:rPr lang="en-US" sz="4499" b="true">
                <a:solidFill>
                  <a:srgbClr val="5DA295"/>
                </a:solidFill>
                <a:latin typeface="Glacial Indifference Bold"/>
                <a:ea typeface="Glacial Indifference Bold"/>
                <a:cs typeface="Glacial Indifference Bold"/>
                <a:sym typeface="Glacial Indifference Bold"/>
              </a:rPr>
              <a:t>02.</a:t>
            </a:r>
          </a:p>
        </p:txBody>
      </p:sp>
      <p:sp>
        <p:nvSpPr>
          <p:cNvPr name="TextBox 20" id="20"/>
          <p:cNvSpPr txBox="true"/>
          <p:nvPr/>
        </p:nvSpPr>
        <p:spPr>
          <a:xfrm rot="0">
            <a:off x="6758233" y="6071950"/>
            <a:ext cx="1096746" cy="762001"/>
          </a:xfrm>
          <a:prstGeom prst="rect">
            <a:avLst/>
          </a:prstGeom>
        </p:spPr>
        <p:txBody>
          <a:bodyPr anchor="t" rtlCol="false" tIns="0" lIns="0" bIns="0" rIns="0">
            <a:spAutoFit/>
          </a:bodyPr>
          <a:lstStyle/>
          <a:p>
            <a:pPr algn="r">
              <a:lnSpc>
                <a:spcPts val="6299"/>
              </a:lnSpc>
            </a:pPr>
            <a:r>
              <a:rPr lang="en-US" sz="4499" b="true">
                <a:solidFill>
                  <a:srgbClr val="5DA295"/>
                </a:solidFill>
                <a:latin typeface="Glacial Indifference Bold"/>
                <a:ea typeface="Glacial Indifference Bold"/>
                <a:cs typeface="Glacial Indifference Bold"/>
                <a:sym typeface="Glacial Indifference Bold"/>
              </a:rPr>
              <a:t>03.</a:t>
            </a:r>
          </a:p>
        </p:txBody>
      </p:sp>
      <p:sp>
        <p:nvSpPr>
          <p:cNvPr name="TextBox 21" id="21"/>
          <p:cNvSpPr txBox="true"/>
          <p:nvPr/>
        </p:nvSpPr>
        <p:spPr>
          <a:xfrm rot="0">
            <a:off x="8168290" y="4547023"/>
            <a:ext cx="9939455" cy="1597059"/>
          </a:xfrm>
          <a:prstGeom prst="rect">
            <a:avLst/>
          </a:prstGeom>
        </p:spPr>
        <p:txBody>
          <a:bodyPr anchor="t" rtlCol="false" tIns="0" lIns="0" bIns="0" rIns="0">
            <a:spAutoFit/>
          </a:bodyPr>
          <a:lstStyle/>
          <a:p>
            <a:pPr algn="l">
              <a:lnSpc>
                <a:spcPts val="4272"/>
              </a:lnSpc>
            </a:pPr>
            <a:r>
              <a:rPr lang="en-US" sz="3051">
                <a:solidFill>
                  <a:srgbClr val="000000"/>
                </a:solidFill>
                <a:latin typeface="Glacial Indifference"/>
                <a:ea typeface="Glacial Indifference"/>
                <a:cs typeface="Glacial Indifference"/>
                <a:sym typeface="Glacial Indifference"/>
              </a:rPr>
              <a:t>Apa saja faktor kegiatan perkuliahan yang mempengaruhi kesehatan psikologis mahasiswa aktif di PENS?</a:t>
            </a:r>
          </a:p>
          <a:p>
            <a:pPr algn="l">
              <a:lnSpc>
                <a:spcPts val="4272"/>
              </a:lnSpc>
            </a:pPr>
          </a:p>
        </p:txBody>
      </p:sp>
      <p:sp>
        <p:nvSpPr>
          <p:cNvPr name="TextBox 22" id="22"/>
          <p:cNvSpPr txBox="true"/>
          <p:nvPr/>
        </p:nvSpPr>
        <p:spPr>
          <a:xfrm rot="0">
            <a:off x="8168290" y="6110050"/>
            <a:ext cx="9808190" cy="931329"/>
          </a:xfrm>
          <a:prstGeom prst="rect">
            <a:avLst/>
          </a:prstGeom>
        </p:spPr>
        <p:txBody>
          <a:bodyPr anchor="t" rtlCol="false" tIns="0" lIns="0" bIns="0" rIns="0">
            <a:spAutoFit/>
          </a:bodyPr>
          <a:lstStyle/>
          <a:p>
            <a:pPr algn="l">
              <a:lnSpc>
                <a:spcPts val="3755"/>
              </a:lnSpc>
            </a:pPr>
            <a:r>
              <a:rPr lang="en-US" sz="2682">
                <a:solidFill>
                  <a:srgbClr val="000000"/>
                </a:solidFill>
                <a:latin typeface="Glacial Indifference"/>
                <a:ea typeface="Glacial Indifference"/>
                <a:cs typeface="Glacial Indifference"/>
                <a:sym typeface="Glacial Indifference"/>
              </a:rPr>
              <a:t>Seberapa besar pengaruh tekanan akademik terhadap kesehatan fisik dan kesehatan psikologis mahasiswa aktif di PENS?</a:t>
            </a:r>
          </a:p>
        </p:txBody>
      </p:sp>
      <p:grpSp>
        <p:nvGrpSpPr>
          <p:cNvPr name="Group 23" id="23"/>
          <p:cNvGrpSpPr/>
          <p:nvPr/>
        </p:nvGrpSpPr>
        <p:grpSpPr>
          <a:xfrm rot="0">
            <a:off x="728554" y="471103"/>
            <a:ext cx="4008304" cy="1427108"/>
            <a:chOff x="0" y="0"/>
            <a:chExt cx="5344405" cy="1902811"/>
          </a:xfrm>
        </p:grpSpPr>
        <p:sp>
          <p:nvSpPr>
            <p:cNvPr name="Freeform 24" id="24"/>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8"/>
              <a:stretch>
                <a:fillRect l="0" t="0" r="0" b="0"/>
              </a:stretch>
            </a:blipFill>
          </p:spPr>
        </p:sp>
        <p:sp>
          <p:nvSpPr>
            <p:cNvPr name="TextBox 25" id="25"/>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695631" y="8016035"/>
            <a:ext cx="3905319" cy="4114800"/>
          </a:xfrm>
          <a:custGeom>
            <a:avLst/>
            <a:gdLst/>
            <a:ahLst/>
            <a:cxnLst/>
            <a:rect r="r" b="b" t="t" l="l"/>
            <a:pathLst>
              <a:path h="4114800" w="3905319">
                <a:moveTo>
                  <a:pt x="0" y="0"/>
                </a:moveTo>
                <a:lnTo>
                  <a:pt x="3905319" y="0"/>
                </a:lnTo>
                <a:lnTo>
                  <a:pt x="390531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10073435"/>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7600950" y="2334155"/>
            <a:ext cx="10687050" cy="5618690"/>
            <a:chOff x="0" y="0"/>
            <a:chExt cx="2814696" cy="1479820"/>
          </a:xfrm>
        </p:grpSpPr>
        <p:sp>
          <p:nvSpPr>
            <p:cNvPr name="Freeform 10" id="10"/>
            <p:cNvSpPr/>
            <p:nvPr/>
          </p:nvSpPr>
          <p:spPr>
            <a:xfrm flipH="false" flipV="false" rot="0">
              <a:off x="0" y="0"/>
              <a:ext cx="2814696" cy="1479820"/>
            </a:xfrm>
            <a:custGeom>
              <a:avLst/>
              <a:gdLst/>
              <a:ahLst/>
              <a:cxnLst/>
              <a:rect r="r" b="b" t="t" l="l"/>
              <a:pathLst>
                <a:path h="1479820" w="2814696">
                  <a:moveTo>
                    <a:pt x="0" y="0"/>
                  </a:moveTo>
                  <a:lnTo>
                    <a:pt x="2814696" y="0"/>
                  </a:lnTo>
                  <a:lnTo>
                    <a:pt x="2814696" y="1479820"/>
                  </a:lnTo>
                  <a:lnTo>
                    <a:pt x="0" y="1479820"/>
                  </a:lnTo>
                  <a:close/>
                </a:path>
              </a:pathLst>
            </a:custGeom>
            <a:solidFill>
              <a:srgbClr val="BFDDD2"/>
            </a:solidFill>
          </p:spPr>
        </p:sp>
        <p:sp>
          <p:nvSpPr>
            <p:cNvPr name="TextBox 11" id="11"/>
            <p:cNvSpPr txBox="true"/>
            <p:nvPr/>
          </p:nvSpPr>
          <p:spPr>
            <a:xfrm>
              <a:off x="0" y="-38100"/>
              <a:ext cx="2814696" cy="151792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6182607" y="758341"/>
            <a:ext cx="3675104" cy="3675104"/>
          </a:xfrm>
          <a:custGeom>
            <a:avLst/>
            <a:gdLst/>
            <a:ahLst/>
            <a:cxnLst/>
            <a:rect r="r" b="b" t="t" l="l"/>
            <a:pathLst>
              <a:path h="3675104" w="3675104">
                <a:moveTo>
                  <a:pt x="0" y="0"/>
                </a:moveTo>
                <a:lnTo>
                  <a:pt x="3675104" y="0"/>
                </a:lnTo>
                <a:lnTo>
                  <a:pt x="3675104" y="3675104"/>
                </a:lnTo>
                <a:lnTo>
                  <a:pt x="0" y="36751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2484758" y="6805162"/>
            <a:ext cx="1210872" cy="1210872"/>
          </a:xfrm>
          <a:custGeom>
            <a:avLst/>
            <a:gdLst/>
            <a:ahLst/>
            <a:cxnLst/>
            <a:rect r="r" b="b" t="t" l="l"/>
            <a:pathLst>
              <a:path h="1210872" w="1210872">
                <a:moveTo>
                  <a:pt x="0" y="0"/>
                </a:moveTo>
                <a:lnTo>
                  <a:pt x="1210873" y="0"/>
                </a:lnTo>
                <a:lnTo>
                  <a:pt x="1210873" y="1210873"/>
                </a:lnTo>
                <a:lnTo>
                  <a:pt x="0" y="12108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651114" y="3780822"/>
            <a:ext cx="5795552" cy="2103755"/>
          </a:xfrm>
          <a:prstGeom prst="rect">
            <a:avLst/>
          </a:prstGeom>
        </p:spPr>
        <p:txBody>
          <a:bodyPr anchor="t" rtlCol="false" tIns="0" lIns="0" bIns="0" rIns="0">
            <a:spAutoFit/>
          </a:bodyPr>
          <a:lstStyle/>
          <a:p>
            <a:pPr algn="l">
              <a:lnSpc>
                <a:spcPts val="8259"/>
              </a:lnSpc>
            </a:pPr>
            <a:r>
              <a:rPr lang="en-US" sz="6999" b="true">
                <a:solidFill>
                  <a:srgbClr val="000000"/>
                </a:solidFill>
                <a:latin typeface="Glacial Indifference Bold"/>
                <a:ea typeface="Glacial Indifference Bold"/>
                <a:cs typeface="Glacial Indifference Bold"/>
                <a:sym typeface="Glacial Indifference Bold"/>
              </a:rPr>
              <a:t>Penelitian Sebelumnya</a:t>
            </a:r>
          </a:p>
        </p:txBody>
      </p:sp>
      <p:sp>
        <p:nvSpPr>
          <p:cNvPr name="TextBox 15" id="15"/>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04</a:t>
            </a:r>
          </a:p>
        </p:txBody>
      </p:sp>
      <p:sp>
        <p:nvSpPr>
          <p:cNvPr name="TextBox 16" id="16"/>
          <p:cNvSpPr txBox="true"/>
          <p:nvPr/>
        </p:nvSpPr>
        <p:spPr>
          <a:xfrm rot="0">
            <a:off x="8001802" y="2621220"/>
            <a:ext cx="9980256" cy="4968361"/>
          </a:xfrm>
          <a:prstGeom prst="rect">
            <a:avLst/>
          </a:prstGeom>
        </p:spPr>
        <p:txBody>
          <a:bodyPr anchor="t" rtlCol="false" tIns="0" lIns="0" bIns="0" rIns="0">
            <a:spAutoFit/>
          </a:bodyPr>
          <a:lstStyle/>
          <a:p>
            <a:pPr algn="just">
              <a:lnSpc>
                <a:spcPts val="4419"/>
              </a:lnSpc>
            </a:pPr>
            <a:r>
              <a:rPr lang="en-US" sz="3156">
                <a:solidFill>
                  <a:srgbClr val="000000"/>
                </a:solidFill>
                <a:latin typeface="Glacial Indifference"/>
                <a:ea typeface="Glacial Indifference"/>
                <a:cs typeface="Glacial Indifference"/>
                <a:sym typeface="Glacial Indifference"/>
              </a:rPr>
              <a:t>Penelitian Dyah Vierdiana (2024), berjudul Analisis Faktor-Faktor yang Mempengaruhi Kesehatan Mental di Kalangan Mahasiswa Perguruan Tinggi yang bertujuan untuk menganalisis faktor-faktor yang mempengaruhi kesehatan mental di kalangan mahasiswa perguruan tinggi. Hasil penelitian menunjukkan bahwa tekanan akademik, kualitas hubungan sosial, dan gaya hidup mahasiswa berperan penting dalam membentuk kesejahteraan psikologis.</a:t>
            </a:r>
          </a:p>
        </p:txBody>
      </p:sp>
      <p:sp>
        <p:nvSpPr>
          <p:cNvPr name="AutoShape 17" id="17"/>
          <p:cNvSpPr/>
          <p:nvPr/>
        </p:nvSpPr>
        <p:spPr>
          <a:xfrm>
            <a:off x="16564000" y="8877554"/>
            <a:ext cx="0" cy="761492"/>
          </a:xfrm>
          <a:prstGeom prst="line">
            <a:avLst/>
          </a:prstGeom>
          <a:ln cap="flat" w="95250">
            <a:solidFill>
              <a:srgbClr val="5DA295"/>
            </a:solidFill>
            <a:prstDash val="solid"/>
            <a:headEnd type="none" len="sm" w="sm"/>
            <a:tailEnd type="none" len="sm" w="sm"/>
          </a:ln>
        </p:spPr>
      </p:sp>
      <p:grpSp>
        <p:nvGrpSpPr>
          <p:cNvPr name="Group 18" id="18"/>
          <p:cNvGrpSpPr/>
          <p:nvPr/>
        </p:nvGrpSpPr>
        <p:grpSpPr>
          <a:xfrm rot="0">
            <a:off x="651114" y="375853"/>
            <a:ext cx="4008304" cy="1427108"/>
            <a:chOff x="0" y="0"/>
            <a:chExt cx="5344405" cy="1902811"/>
          </a:xfrm>
        </p:grpSpPr>
        <p:sp>
          <p:nvSpPr>
            <p:cNvPr name="Freeform 19" id="19"/>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8"/>
              <a:stretch>
                <a:fillRect l="0" t="0" r="0" b="0"/>
              </a:stretch>
            </a:blipFill>
          </p:spPr>
        </p:sp>
        <p:sp>
          <p:nvSpPr>
            <p:cNvPr name="TextBox 20" id="20"/>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213565"/>
            <a:chOff x="0" y="0"/>
            <a:chExt cx="4816593" cy="56248"/>
          </a:xfrm>
        </p:grpSpPr>
        <p:sp>
          <p:nvSpPr>
            <p:cNvPr name="Freeform 6" id="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7" id="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05</a:t>
            </a:r>
          </a:p>
        </p:txBody>
      </p:sp>
      <p:sp>
        <p:nvSpPr>
          <p:cNvPr name="AutoShape 9" id="9"/>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0" id="10"/>
          <p:cNvSpPr/>
          <p:nvPr/>
        </p:nvSpPr>
        <p:spPr>
          <a:xfrm flipH="false" flipV="false" rot="0">
            <a:off x="14869273" y="-2098748"/>
            <a:ext cx="3705427" cy="3905589"/>
          </a:xfrm>
          <a:custGeom>
            <a:avLst/>
            <a:gdLst/>
            <a:ahLst/>
            <a:cxnLst/>
            <a:rect r="r" b="b" t="t" l="l"/>
            <a:pathLst>
              <a:path h="3905589" w="3705427">
                <a:moveTo>
                  <a:pt x="0" y="0"/>
                </a:moveTo>
                <a:lnTo>
                  <a:pt x="3705427" y="0"/>
                </a:lnTo>
                <a:lnTo>
                  <a:pt x="3705427" y="3905589"/>
                </a:lnTo>
                <a:lnTo>
                  <a:pt x="0" y="3905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02870" y="1279101"/>
            <a:ext cx="1073337" cy="1073337"/>
          </a:xfrm>
          <a:custGeom>
            <a:avLst/>
            <a:gdLst/>
            <a:ahLst/>
            <a:cxnLst/>
            <a:rect r="r" b="b" t="t" l="l"/>
            <a:pathLst>
              <a:path h="1073337" w="1073337">
                <a:moveTo>
                  <a:pt x="0" y="0"/>
                </a:moveTo>
                <a:lnTo>
                  <a:pt x="1073336" y="0"/>
                </a:lnTo>
                <a:lnTo>
                  <a:pt x="1073336" y="1073337"/>
                </a:lnTo>
                <a:lnTo>
                  <a:pt x="0" y="1073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6147931" y="2273854"/>
            <a:ext cx="456551" cy="456551"/>
          </a:xfrm>
          <a:custGeom>
            <a:avLst/>
            <a:gdLst/>
            <a:ahLst/>
            <a:cxnLst/>
            <a:rect r="r" b="b" t="t" l="l"/>
            <a:pathLst>
              <a:path h="456551" w="456551">
                <a:moveTo>
                  <a:pt x="0" y="0"/>
                </a:moveTo>
                <a:lnTo>
                  <a:pt x="456551" y="0"/>
                </a:lnTo>
                <a:lnTo>
                  <a:pt x="456551" y="456551"/>
                </a:lnTo>
                <a:lnTo>
                  <a:pt x="0" y="4565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60067" y="8446709"/>
            <a:ext cx="659197" cy="659197"/>
          </a:xfrm>
          <a:custGeom>
            <a:avLst/>
            <a:gdLst/>
            <a:ahLst/>
            <a:cxnLst/>
            <a:rect r="r" b="b" t="t" l="l"/>
            <a:pathLst>
              <a:path h="659197" w="659197">
                <a:moveTo>
                  <a:pt x="0" y="0"/>
                </a:moveTo>
                <a:lnTo>
                  <a:pt x="659196" y="0"/>
                </a:lnTo>
                <a:lnTo>
                  <a:pt x="659196" y="659197"/>
                </a:lnTo>
                <a:lnTo>
                  <a:pt x="0" y="65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250990" y="9157302"/>
            <a:ext cx="659197" cy="659197"/>
          </a:xfrm>
          <a:custGeom>
            <a:avLst/>
            <a:gdLst/>
            <a:ahLst/>
            <a:cxnLst/>
            <a:rect r="r" b="b" t="t" l="l"/>
            <a:pathLst>
              <a:path h="659197" w="659197">
                <a:moveTo>
                  <a:pt x="0" y="0"/>
                </a:moveTo>
                <a:lnTo>
                  <a:pt x="659197" y="0"/>
                </a:lnTo>
                <a:lnTo>
                  <a:pt x="659197" y="659196"/>
                </a:lnTo>
                <a:lnTo>
                  <a:pt x="0" y="6591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2668841" y="3335313"/>
            <a:ext cx="13170697" cy="5021328"/>
          </a:xfrm>
          <a:custGeom>
            <a:avLst/>
            <a:gdLst/>
            <a:ahLst/>
            <a:cxnLst/>
            <a:rect r="r" b="b" t="t" l="l"/>
            <a:pathLst>
              <a:path h="5021328" w="13170697">
                <a:moveTo>
                  <a:pt x="0" y="0"/>
                </a:moveTo>
                <a:lnTo>
                  <a:pt x="13170697" y="0"/>
                </a:lnTo>
                <a:lnTo>
                  <a:pt x="13170697" y="5021328"/>
                </a:lnTo>
                <a:lnTo>
                  <a:pt x="0" y="5021328"/>
                </a:lnTo>
                <a:lnTo>
                  <a:pt x="0" y="0"/>
                </a:lnTo>
                <a:close/>
              </a:path>
            </a:pathLst>
          </a:custGeom>
          <a:blipFill>
            <a:blip r:embed="rId12"/>
            <a:stretch>
              <a:fillRect l="0" t="0" r="0" b="0"/>
            </a:stretch>
          </a:blipFill>
        </p:spPr>
      </p:sp>
      <p:sp>
        <p:nvSpPr>
          <p:cNvPr name="TextBox 16" id="16"/>
          <p:cNvSpPr txBox="true"/>
          <p:nvPr/>
        </p:nvSpPr>
        <p:spPr>
          <a:xfrm rot="0">
            <a:off x="4075378" y="1551020"/>
            <a:ext cx="10137245" cy="1111234"/>
          </a:xfrm>
          <a:prstGeom prst="rect">
            <a:avLst/>
          </a:prstGeom>
        </p:spPr>
        <p:txBody>
          <a:bodyPr anchor="t" rtlCol="false" tIns="0" lIns="0" bIns="0" rIns="0">
            <a:spAutoFit/>
          </a:bodyPr>
          <a:lstStyle/>
          <a:p>
            <a:pPr algn="ctr">
              <a:lnSpc>
                <a:spcPts val="9099"/>
              </a:lnSpc>
            </a:pPr>
            <a:r>
              <a:rPr lang="en-US" sz="6499" b="true">
                <a:solidFill>
                  <a:srgbClr val="000000"/>
                </a:solidFill>
                <a:latin typeface="Glacial Indifference Bold"/>
                <a:ea typeface="Glacial Indifference Bold"/>
                <a:cs typeface="Glacial Indifference Bold"/>
                <a:sym typeface="Glacial Indifference Bold"/>
              </a:rPr>
              <a:t>Statistik Deskriptif</a:t>
            </a:r>
          </a:p>
        </p:txBody>
      </p:sp>
      <p:grpSp>
        <p:nvGrpSpPr>
          <p:cNvPr name="Group 17" id="17"/>
          <p:cNvGrpSpPr/>
          <p:nvPr/>
        </p:nvGrpSpPr>
        <p:grpSpPr>
          <a:xfrm rot="0">
            <a:off x="728554"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3"/>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213565"/>
            <a:chOff x="0" y="0"/>
            <a:chExt cx="4816593" cy="56248"/>
          </a:xfrm>
        </p:grpSpPr>
        <p:sp>
          <p:nvSpPr>
            <p:cNvPr name="Freeform 6" id="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7" id="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06</a:t>
            </a:r>
          </a:p>
        </p:txBody>
      </p:sp>
      <p:sp>
        <p:nvSpPr>
          <p:cNvPr name="AutoShape 9" id="9"/>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0" id="10"/>
          <p:cNvSpPr/>
          <p:nvPr/>
        </p:nvSpPr>
        <p:spPr>
          <a:xfrm flipH="false" flipV="false" rot="0">
            <a:off x="14869273" y="-2098748"/>
            <a:ext cx="3705427" cy="3905589"/>
          </a:xfrm>
          <a:custGeom>
            <a:avLst/>
            <a:gdLst/>
            <a:ahLst/>
            <a:cxnLst/>
            <a:rect r="r" b="b" t="t" l="l"/>
            <a:pathLst>
              <a:path h="3905589" w="3705427">
                <a:moveTo>
                  <a:pt x="0" y="0"/>
                </a:moveTo>
                <a:lnTo>
                  <a:pt x="3705427" y="0"/>
                </a:lnTo>
                <a:lnTo>
                  <a:pt x="3705427" y="3905589"/>
                </a:lnTo>
                <a:lnTo>
                  <a:pt x="0" y="3905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02870" y="1279101"/>
            <a:ext cx="1073337" cy="1073337"/>
          </a:xfrm>
          <a:custGeom>
            <a:avLst/>
            <a:gdLst/>
            <a:ahLst/>
            <a:cxnLst/>
            <a:rect r="r" b="b" t="t" l="l"/>
            <a:pathLst>
              <a:path h="1073337" w="1073337">
                <a:moveTo>
                  <a:pt x="0" y="0"/>
                </a:moveTo>
                <a:lnTo>
                  <a:pt x="1073336" y="0"/>
                </a:lnTo>
                <a:lnTo>
                  <a:pt x="1073336" y="1073337"/>
                </a:lnTo>
                <a:lnTo>
                  <a:pt x="0" y="1073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6147931" y="2273854"/>
            <a:ext cx="456551" cy="456551"/>
          </a:xfrm>
          <a:custGeom>
            <a:avLst/>
            <a:gdLst/>
            <a:ahLst/>
            <a:cxnLst/>
            <a:rect r="r" b="b" t="t" l="l"/>
            <a:pathLst>
              <a:path h="456551" w="456551">
                <a:moveTo>
                  <a:pt x="0" y="0"/>
                </a:moveTo>
                <a:lnTo>
                  <a:pt x="456551" y="0"/>
                </a:lnTo>
                <a:lnTo>
                  <a:pt x="456551" y="456551"/>
                </a:lnTo>
                <a:lnTo>
                  <a:pt x="0" y="4565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60067" y="8446709"/>
            <a:ext cx="659197" cy="659197"/>
          </a:xfrm>
          <a:custGeom>
            <a:avLst/>
            <a:gdLst/>
            <a:ahLst/>
            <a:cxnLst/>
            <a:rect r="r" b="b" t="t" l="l"/>
            <a:pathLst>
              <a:path h="659197" w="659197">
                <a:moveTo>
                  <a:pt x="0" y="0"/>
                </a:moveTo>
                <a:lnTo>
                  <a:pt x="659196" y="0"/>
                </a:lnTo>
                <a:lnTo>
                  <a:pt x="659196" y="659197"/>
                </a:lnTo>
                <a:lnTo>
                  <a:pt x="0" y="65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250990" y="9157302"/>
            <a:ext cx="659197" cy="659197"/>
          </a:xfrm>
          <a:custGeom>
            <a:avLst/>
            <a:gdLst/>
            <a:ahLst/>
            <a:cxnLst/>
            <a:rect r="r" b="b" t="t" l="l"/>
            <a:pathLst>
              <a:path h="659197" w="659197">
                <a:moveTo>
                  <a:pt x="0" y="0"/>
                </a:moveTo>
                <a:lnTo>
                  <a:pt x="659197" y="0"/>
                </a:lnTo>
                <a:lnTo>
                  <a:pt x="659197" y="659196"/>
                </a:lnTo>
                <a:lnTo>
                  <a:pt x="0" y="6591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3493371" y="2866713"/>
            <a:ext cx="11301259" cy="5579997"/>
          </a:xfrm>
          <a:custGeom>
            <a:avLst/>
            <a:gdLst/>
            <a:ahLst/>
            <a:cxnLst/>
            <a:rect r="r" b="b" t="t" l="l"/>
            <a:pathLst>
              <a:path h="5579997" w="11301259">
                <a:moveTo>
                  <a:pt x="0" y="0"/>
                </a:moveTo>
                <a:lnTo>
                  <a:pt x="11301258" y="0"/>
                </a:lnTo>
                <a:lnTo>
                  <a:pt x="11301258" y="5579996"/>
                </a:lnTo>
                <a:lnTo>
                  <a:pt x="0" y="5579996"/>
                </a:lnTo>
                <a:lnTo>
                  <a:pt x="0" y="0"/>
                </a:lnTo>
                <a:close/>
              </a:path>
            </a:pathLst>
          </a:custGeom>
          <a:blipFill>
            <a:blip r:embed="rId12"/>
            <a:stretch>
              <a:fillRect l="0" t="0" r="0" b="0"/>
            </a:stretch>
          </a:blipFill>
        </p:spPr>
      </p:sp>
      <p:sp>
        <p:nvSpPr>
          <p:cNvPr name="TextBox 16" id="16"/>
          <p:cNvSpPr txBox="true"/>
          <p:nvPr/>
        </p:nvSpPr>
        <p:spPr>
          <a:xfrm rot="0">
            <a:off x="4075378" y="1551020"/>
            <a:ext cx="10137245" cy="1111234"/>
          </a:xfrm>
          <a:prstGeom prst="rect">
            <a:avLst/>
          </a:prstGeom>
        </p:spPr>
        <p:txBody>
          <a:bodyPr anchor="t" rtlCol="false" tIns="0" lIns="0" bIns="0" rIns="0">
            <a:spAutoFit/>
          </a:bodyPr>
          <a:lstStyle/>
          <a:p>
            <a:pPr algn="ctr">
              <a:lnSpc>
                <a:spcPts val="9099"/>
              </a:lnSpc>
            </a:pPr>
            <a:r>
              <a:rPr lang="en-US" sz="6499" b="true">
                <a:solidFill>
                  <a:srgbClr val="000000"/>
                </a:solidFill>
                <a:latin typeface="Glacial Indifference Bold"/>
                <a:ea typeface="Glacial Indifference Bold"/>
                <a:cs typeface="Glacial Indifference Bold"/>
                <a:sym typeface="Glacial Indifference Bold"/>
              </a:rPr>
              <a:t>Statistik Deskriptif</a:t>
            </a:r>
          </a:p>
        </p:txBody>
      </p:sp>
      <p:grpSp>
        <p:nvGrpSpPr>
          <p:cNvPr name="Group 17" id="17"/>
          <p:cNvGrpSpPr/>
          <p:nvPr/>
        </p:nvGrpSpPr>
        <p:grpSpPr>
          <a:xfrm rot="0">
            <a:off x="738079"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3"/>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213565"/>
            <a:chOff x="0" y="0"/>
            <a:chExt cx="4816593" cy="56248"/>
          </a:xfrm>
        </p:grpSpPr>
        <p:sp>
          <p:nvSpPr>
            <p:cNvPr name="Freeform 6" id="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7" id="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07</a:t>
            </a:r>
          </a:p>
        </p:txBody>
      </p:sp>
      <p:sp>
        <p:nvSpPr>
          <p:cNvPr name="AutoShape 9" id="9"/>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0" id="10"/>
          <p:cNvSpPr/>
          <p:nvPr/>
        </p:nvSpPr>
        <p:spPr>
          <a:xfrm flipH="false" flipV="false" rot="0">
            <a:off x="14869273" y="-2098748"/>
            <a:ext cx="3705427" cy="3905589"/>
          </a:xfrm>
          <a:custGeom>
            <a:avLst/>
            <a:gdLst/>
            <a:ahLst/>
            <a:cxnLst/>
            <a:rect r="r" b="b" t="t" l="l"/>
            <a:pathLst>
              <a:path h="3905589" w="3705427">
                <a:moveTo>
                  <a:pt x="0" y="0"/>
                </a:moveTo>
                <a:lnTo>
                  <a:pt x="3705427" y="0"/>
                </a:lnTo>
                <a:lnTo>
                  <a:pt x="3705427" y="3905589"/>
                </a:lnTo>
                <a:lnTo>
                  <a:pt x="0" y="3905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02870" y="1279101"/>
            <a:ext cx="1073337" cy="1073337"/>
          </a:xfrm>
          <a:custGeom>
            <a:avLst/>
            <a:gdLst/>
            <a:ahLst/>
            <a:cxnLst/>
            <a:rect r="r" b="b" t="t" l="l"/>
            <a:pathLst>
              <a:path h="1073337" w="1073337">
                <a:moveTo>
                  <a:pt x="0" y="0"/>
                </a:moveTo>
                <a:lnTo>
                  <a:pt x="1073336" y="0"/>
                </a:lnTo>
                <a:lnTo>
                  <a:pt x="1073336" y="1073337"/>
                </a:lnTo>
                <a:lnTo>
                  <a:pt x="0" y="1073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6147931" y="2273854"/>
            <a:ext cx="456551" cy="456551"/>
          </a:xfrm>
          <a:custGeom>
            <a:avLst/>
            <a:gdLst/>
            <a:ahLst/>
            <a:cxnLst/>
            <a:rect r="r" b="b" t="t" l="l"/>
            <a:pathLst>
              <a:path h="456551" w="456551">
                <a:moveTo>
                  <a:pt x="0" y="0"/>
                </a:moveTo>
                <a:lnTo>
                  <a:pt x="456551" y="0"/>
                </a:lnTo>
                <a:lnTo>
                  <a:pt x="456551" y="456551"/>
                </a:lnTo>
                <a:lnTo>
                  <a:pt x="0" y="4565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60067" y="8446709"/>
            <a:ext cx="659197" cy="659197"/>
          </a:xfrm>
          <a:custGeom>
            <a:avLst/>
            <a:gdLst/>
            <a:ahLst/>
            <a:cxnLst/>
            <a:rect r="r" b="b" t="t" l="l"/>
            <a:pathLst>
              <a:path h="659197" w="659197">
                <a:moveTo>
                  <a:pt x="0" y="0"/>
                </a:moveTo>
                <a:lnTo>
                  <a:pt x="659196" y="0"/>
                </a:lnTo>
                <a:lnTo>
                  <a:pt x="659196" y="659197"/>
                </a:lnTo>
                <a:lnTo>
                  <a:pt x="0" y="65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250990" y="9157302"/>
            <a:ext cx="659197" cy="659197"/>
          </a:xfrm>
          <a:custGeom>
            <a:avLst/>
            <a:gdLst/>
            <a:ahLst/>
            <a:cxnLst/>
            <a:rect r="r" b="b" t="t" l="l"/>
            <a:pathLst>
              <a:path h="659197" w="659197">
                <a:moveTo>
                  <a:pt x="0" y="0"/>
                </a:moveTo>
                <a:lnTo>
                  <a:pt x="659197" y="0"/>
                </a:lnTo>
                <a:lnTo>
                  <a:pt x="659197" y="659196"/>
                </a:lnTo>
                <a:lnTo>
                  <a:pt x="0" y="6591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3493371" y="3212318"/>
            <a:ext cx="11301259" cy="5226832"/>
          </a:xfrm>
          <a:custGeom>
            <a:avLst/>
            <a:gdLst/>
            <a:ahLst/>
            <a:cxnLst/>
            <a:rect r="r" b="b" t="t" l="l"/>
            <a:pathLst>
              <a:path h="5226832" w="11301259">
                <a:moveTo>
                  <a:pt x="0" y="0"/>
                </a:moveTo>
                <a:lnTo>
                  <a:pt x="11301258" y="0"/>
                </a:lnTo>
                <a:lnTo>
                  <a:pt x="11301258" y="5226832"/>
                </a:lnTo>
                <a:lnTo>
                  <a:pt x="0" y="5226832"/>
                </a:lnTo>
                <a:lnTo>
                  <a:pt x="0" y="0"/>
                </a:lnTo>
                <a:close/>
              </a:path>
            </a:pathLst>
          </a:custGeom>
          <a:blipFill>
            <a:blip r:embed="rId12"/>
            <a:stretch>
              <a:fillRect l="0" t="0" r="0" b="0"/>
            </a:stretch>
          </a:blipFill>
        </p:spPr>
      </p:sp>
      <p:sp>
        <p:nvSpPr>
          <p:cNvPr name="TextBox 16" id="16"/>
          <p:cNvSpPr txBox="true"/>
          <p:nvPr/>
        </p:nvSpPr>
        <p:spPr>
          <a:xfrm rot="0">
            <a:off x="4075378" y="1551020"/>
            <a:ext cx="10137245" cy="1111234"/>
          </a:xfrm>
          <a:prstGeom prst="rect">
            <a:avLst/>
          </a:prstGeom>
        </p:spPr>
        <p:txBody>
          <a:bodyPr anchor="t" rtlCol="false" tIns="0" lIns="0" bIns="0" rIns="0">
            <a:spAutoFit/>
          </a:bodyPr>
          <a:lstStyle/>
          <a:p>
            <a:pPr algn="ctr">
              <a:lnSpc>
                <a:spcPts val="9099"/>
              </a:lnSpc>
            </a:pPr>
            <a:r>
              <a:rPr lang="en-US" sz="6499" b="true">
                <a:solidFill>
                  <a:srgbClr val="000000"/>
                </a:solidFill>
                <a:latin typeface="Glacial Indifference Bold"/>
                <a:ea typeface="Glacial Indifference Bold"/>
                <a:cs typeface="Glacial Indifference Bold"/>
                <a:sym typeface="Glacial Indifference Bold"/>
              </a:rPr>
              <a:t>Statistik Deskriptif</a:t>
            </a:r>
          </a:p>
        </p:txBody>
      </p:sp>
      <p:grpSp>
        <p:nvGrpSpPr>
          <p:cNvPr name="Group 17" id="17"/>
          <p:cNvGrpSpPr/>
          <p:nvPr/>
        </p:nvGrpSpPr>
        <p:grpSpPr>
          <a:xfrm rot="0">
            <a:off x="728554"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3"/>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213565"/>
            <a:chOff x="0" y="0"/>
            <a:chExt cx="4816593" cy="56248"/>
          </a:xfrm>
        </p:grpSpPr>
        <p:sp>
          <p:nvSpPr>
            <p:cNvPr name="Freeform 6" id="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7" id="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08</a:t>
            </a:r>
          </a:p>
        </p:txBody>
      </p:sp>
      <p:sp>
        <p:nvSpPr>
          <p:cNvPr name="AutoShape 9" id="9"/>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0" id="10"/>
          <p:cNvSpPr/>
          <p:nvPr/>
        </p:nvSpPr>
        <p:spPr>
          <a:xfrm flipH="false" flipV="false" rot="0">
            <a:off x="14869273" y="-2098748"/>
            <a:ext cx="3705427" cy="3905589"/>
          </a:xfrm>
          <a:custGeom>
            <a:avLst/>
            <a:gdLst/>
            <a:ahLst/>
            <a:cxnLst/>
            <a:rect r="r" b="b" t="t" l="l"/>
            <a:pathLst>
              <a:path h="3905589" w="3705427">
                <a:moveTo>
                  <a:pt x="0" y="0"/>
                </a:moveTo>
                <a:lnTo>
                  <a:pt x="3705427" y="0"/>
                </a:lnTo>
                <a:lnTo>
                  <a:pt x="3705427" y="3905589"/>
                </a:lnTo>
                <a:lnTo>
                  <a:pt x="0" y="3905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02870" y="1279101"/>
            <a:ext cx="1073337" cy="1073337"/>
          </a:xfrm>
          <a:custGeom>
            <a:avLst/>
            <a:gdLst/>
            <a:ahLst/>
            <a:cxnLst/>
            <a:rect r="r" b="b" t="t" l="l"/>
            <a:pathLst>
              <a:path h="1073337" w="1073337">
                <a:moveTo>
                  <a:pt x="0" y="0"/>
                </a:moveTo>
                <a:lnTo>
                  <a:pt x="1073336" y="0"/>
                </a:lnTo>
                <a:lnTo>
                  <a:pt x="1073336" y="1073337"/>
                </a:lnTo>
                <a:lnTo>
                  <a:pt x="0" y="1073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6147931" y="2273854"/>
            <a:ext cx="456551" cy="456551"/>
          </a:xfrm>
          <a:custGeom>
            <a:avLst/>
            <a:gdLst/>
            <a:ahLst/>
            <a:cxnLst/>
            <a:rect r="r" b="b" t="t" l="l"/>
            <a:pathLst>
              <a:path h="456551" w="456551">
                <a:moveTo>
                  <a:pt x="0" y="0"/>
                </a:moveTo>
                <a:lnTo>
                  <a:pt x="456551" y="0"/>
                </a:lnTo>
                <a:lnTo>
                  <a:pt x="456551" y="456551"/>
                </a:lnTo>
                <a:lnTo>
                  <a:pt x="0" y="4565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60067" y="8446709"/>
            <a:ext cx="659197" cy="659197"/>
          </a:xfrm>
          <a:custGeom>
            <a:avLst/>
            <a:gdLst/>
            <a:ahLst/>
            <a:cxnLst/>
            <a:rect r="r" b="b" t="t" l="l"/>
            <a:pathLst>
              <a:path h="659197" w="659197">
                <a:moveTo>
                  <a:pt x="0" y="0"/>
                </a:moveTo>
                <a:lnTo>
                  <a:pt x="659196" y="0"/>
                </a:lnTo>
                <a:lnTo>
                  <a:pt x="659196" y="659197"/>
                </a:lnTo>
                <a:lnTo>
                  <a:pt x="0" y="65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250990" y="9157302"/>
            <a:ext cx="659197" cy="659197"/>
          </a:xfrm>
          <a:custGeom>
            <a:avLst/>
            <a:gdLst/>
            <a:ahLst/>
            <a:cxnLst/>
            <a:rect r="r" b="b" t="t" l="l"/>
            <a:pathLst>
              <a:path h="659197" w="659197">
                <a:moveTo>
                  <a:pt x="0" y="0"/>
                </a:moveTo>
                <a:lnTo>
                  <a:pt x="659197" y="0"/>
                </a:lnTo>
                <a:lnTo>
                  <a:pt x="659197" y="659196"/>
                </a:lnTo>
                <a:lnTo>
                  <a:pt x="0" y="6591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3493371" y="2964156"/>
            <a:ext cx="11301259" cy="5763642"/>
          </a:xfrm>
          <a:custGeom>
            <a:avLst/>
            <a:gdLst/>
            <a:ahLst/>
            <a:cxnLst/>
            <a:rect r="r" b="b" t="t" l="l"/>
            <a:pathLst>
              <a:path h="5763642" w="11301259">
                <a:moveTo>
                  <a:pt x="0" y="0"/>
                </a:moveTo>
                <a:lnTo>
                  <a:pt x="11301258" y="0"/>
                </a:lnTo>
                <a:lnTo>
                  <a:pt x="11301258" y="5763642"/>
                </a:lnTo>
                <a:lnTo>
                  <a:pt x="0" y="5763642"/>
                </a:lnTo>
                <a:lnTo>
                  <a:pt x="0" y="0"/>
                </a:lnTo>
                <a:close/>
              </a:path>
            </a:pathLst>
          </a:custGeom>
          <a:blipFill>
            <a:blip r:embed="rId12"/>
            <a:stretch>
              <a:fillRect l="0" t="0" r="0" b="0"/>
            </a:stretch>
          </a:blipFill>
        </p:spPr>
      </p:sp>
      <p:sp>
        <p:nvSpPr>
          <p:cNvPr name="TextBox 16" id="16"/>
          <p:cNvSpPr txBox="true"/>
          <p:nvPr/>
        </p:nvSpPr>
        <p:spPr>
          <a:xfrm rot="0">
            <a:off x="4075378" y="1551020"/>
            <a:ext cx="10137245" cy="1111234"/>
          </a:xfrm>
          <a:prstGeom prst="rect">
            <a:avLst/>
          </a:prstGeom>
        </p:spPr>
        <p:txBody>
          <a:bodyPr anchor="t" rtlCol="false" tIns="0" lIns="0" bIns="0" rIns="0">
            <a:spAutoFit/>
          </a:bodyPr>
          <a:lstStyle/>
          <a:p>
            <a:pPr algn="ctr">
              <a:lnSpc>
                <a:spcPts val="9099"/>
              </a:lnSpc>
            </a:pPr>
            <a:r>
              <a:rPr lang="en-US" sz="6499" b="true">
                <a:solidFill>
                  <a:srgbClr val="000000"/>
                </a:solidFill>
                <a:latin typeface="Glacial Indifference Bold"/>
                <a:ea typeface="Glacial Indifference Bold"/>
                <a:cs typeface="Glacial Indifference Bold"/>
                <a:sym typeface="Glacial Indifference Bold"/>
              </a:rPr>
              <a:t>Statistik Deskriptif</a:t>
            </a:r>
          </a:p>
        </p:txBody>
      </p:sp>
      <p:grpSp>
        <p:nvGrpSpPr>
          <p:cNvPr name="Group 17" id="17"/>
          <p:cNvGrpSpPr/>
          <p:nvPr/>
        </p:nvGrpSpPr>
        <p:grpSpPr>
          <a:xfrm rot="0">
            <a:off x="728554"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3"/>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213565"/>
            <a:chOff x="0" y="0"/>
            <a:chExt cx="4816593" cy="56248"/>
          </a:xfrm>
        </p:grpSpPr>
        <p:sp>
          <p:nvSpPr>
            <p:cNvPr name="Freeform 6" id="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7" id="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09</a:t>
            </a:r>
          </a:p>
        </p:txBody>
      </p:sp>
      <p:sp>
        <p:nvSpPr>
          <p:cNvPr name="AutoShape 9" id="9"/>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0" id="10"/>
          <p:cNvSpPr/>
          <p:nvPr/>
        </p:nvSpPr>
        <p:spPr>
          <a:xfrm flipH="false" flipV="false" rot="0">
            <a:off x="14869273" y="-2098748"/>
            <a:ext cx="3705427" cy="3905589"/>
          </a:xfrm>
          <a:custGeom>
            <a:avLst/>
            <a:gdLst/>
            <a:ahLst/>
            <a:cxnLst/>
            <a:rect r="r" b="b" t="t" l="l"/>
            <a:pathLst>
              <a:path h="3905589" w="3705427">
                <a:moveTo>
                  <a:pt x="0" y="0"/>
                </a:moveTo>
                <a:lnTo>
                  <a:pt x="3705427" y="0"/>
                </a:lnTo>
                <a:lnTo>
                  <a:pt x="3705427" y="3905589"/>
                </a:lnTo>
                <a:lnTo>
                  <a:pt x="0" y="3905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02870" y="1279101"/>
            <a:ext cx="1073337" cy="1073337"/>
          </a:xfrm>
          <a:custGeom>
            <a:avLst/>
            <a:gdLst/>
            <a:ahLst/>
            <a:cxnLst/>
            <a:rect r="r" b="b" t="t" l="l"/>
            <a:pathLst>
              <a:path h="1073337" w="1073337">
                <a:moveTo>
                  <a:pt x="0" y="0"/>
                </a:moveTo>
                <a:lnTo>
                  <a:pt x="1073336" y="0"/>
                </a:lnTo>
                <a:lnTo>
                  <a:pt x="1073336" y="1073337"/>
                </a:lnTo>
                <a:lnTo>
                  <a:pt x="0" y="1073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6147931" y="2273854"/>
            <a:ext cx="456551" cy="456551"/>
          </a:xfrm>
          <a:custGeom>
            <a:avLst/>
            <a:gdLst/>
            <a:ahLst/>
            <a:cxnLst/>
            <a:rect r="r" b="b" t="t" l="l"/>
            <a:pathLst>
              <a:path h="456551" w="456551">
                <a:moveTo>
                  <a:pt x="0" y="0"/>
                </a:moveTo>
                <a:lnTo>
                  <a:pt x="456551" y="0"/>
                </a:lnTo>
                <a:lnTo>
                  <a:pt x="456551" y="456551"/>
                </a:lnTo>
                <a:lnTo>
                  <a:pt x="0" y="4565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60067" y="8446709"/>
            <a:ext cx="659197" cy="659197"/>
          </a:xfrm>
          <a:custGeom>
            <a:avLst/>
            <a:gdLst/>
            <a:ahLst/>
            <a:cxnLst/>
            <a:rect r="r" b="b" t="t" l="l"/>
            <a:pathLst>
              <a:path h="659197" w="659197">
                <a:moveTo>
                  <a:pt x="0" y="0"/>
                </a:moveTo>
                <a:lnTo>
                  <a:pt x="659196" y="0"/>
                </a:lnTo>
                <a:lnTo>
                  <a:pt x="659196" y="659197"/>
                </a:lnTo>
                <a:lnTo>
                  <a:pt x="0" y="65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250990" y="9157302"/>
            <a:ext cx="659197" cy="659197"/>
          </a:xfrm>
          <a:custGeom>
            <a:avLst/>
            <a:gdLst/>
            <a:ahLst/>
            <a:cxnLst/>
            <a:rect r="r" b="b" t="t" l="l"/>
            <a:pathLst>
              <a:path h="659197" w="659197">
                <a:moveTo>
                  <a:pt x="0" y="0"/>
                </a:moveTo>
                <a:lnTo>
                  <a:pt x="659197" y="0"/>
                </a:lnTo>
                <a:lnTo>
                  <a:pt x="659197" y="659196"/>
                </a:lnTo>
                <a:lnTo>
                  <a:pt x="0" y="6591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3568014" y="3020662"/>
            <a:ext cx="11301259" cy="5650629"/>
          </a:xfrm>
          <a:custGeom>
            <a:avLst/>
            <a:gdLst/>
            <a:ahLst/>
            <a:cxnLst/>
            <a:rect r="r" b="b" t="t" l="l"/>
            <a:pathLst>
              <a:path h="5650629" w="11301259">
                <a:moveTo>
                  <a:pt x="0" y="0"/>
                </a:moveTo>
                <a:lnTo>
                  <a:pt x="11301259" y="0"/>
                </a:lnTo>
                <a:lnTo>
                  <a:pt x="11301259" y="5650630"/>
                </a:lnTo>
                <a:lnTo>
                  <a:pt x="0" y="5650630"/>
                </a:lnTo>
                <a:lnTo>
                  <a:pt x="0" y="0"/>
                </a:lnTo>
                <a:close/>
              </a:path>
            </a:pathLst>
          </a:custGeom>
          <a:blipFill>
            <a:blip r:embed="rId12"/>
            <a:stretch>
              <a:fillRect l="0" t="0" r="0" b="0"/>
            </a:stretch>
          </a:blipFill>
        </p:spPr>
      </p:sp>
      <p:sp>
        <p:nvSpPr>
          <p:cNvPr name="TextBox 16" id="16"/>
          <p:cNvSpPr txBox="true"/>
          <p:nvPr/>
        </p:nvSpPr>
        <p:spPr>
          <a:xfrm rot="0">
            <a:off x="4075378" y="1551020"/>
            <a:ext cx="10137245" cy="1111234"/>
          </a:xfrm>
          <a:prstGeom prst="rect">
            <a:avLst/>
          </a:prstGeom>
        </p:spPr>
        <p:txBody>
          <a:bodyPr anchor="t" rtlCol="false" tIns="0" lIns="0" bIns="0" rIns="0">
            <a:spAutoFit/>
          </a:bodyPr>
          <a:lstStyle/>
          <a:p>
            <a:pPr algn="ctr">
              <a:lnSpc>
                <a:spcPts val="9099"/>
              </a:lnSpc>
            </a:pPr>
            <a:r>
              <a:rPr lang="en-US" sz="6499" b="true">
                <a:solidFill>
                  <a:srgbClr val="000000"/>
                </a:solidFill>
                <a:latin typeface="Glacial Indifference Bold"/>
                <a:ea typeface="Glacial Indifference Bold"/>
                <a:cs typeface="Glacial Indifference Bold"/>
                <a:sym typeface="Glacial Indifference Bold"/>
              </a:rPr>
              <a:t>Statistik Deskriptif</a:t>
            </a:r>
          </a:p>
        </p:txBody>
      </p:sp>
      <p:grpSp>
        <p:nvGrpSpPr>
          <p:cNvPr name="Group 17" id="17"/>
          <p:cNvGrpSpPr/>
          <p:nvPr/>
        </p:nvGrpSpPr>
        <p:grpSpPr>
          <a:xfrm rot="0">
            <a:off x="728554"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3"/>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213565"/>
            <a:chOff x="0" y="0"/>
            <a:chExt cx="4816593" cy="56248"/>
          </a:xfrm>
        </p:grpSpPr>
        <p:sp>
          <p:nvSpPr>
            <p:cNvPr name="Freeform 6" id="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7" id="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10</a:t>
            </a:r>
          </a:p>
        </p:txBody>
      </p:sp>
      <p:sp>
        <p:nvSpPr>
          <p:cNvPr name="AutoShape 9" id="9"/>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0" id="10"/>
          <p:cNvSpPr/>
          <p:nvPr/>
        </p:nvSpPr>
        <p:spPr>
          <a:xfrm flipH="false" flipV="false" rot="0">
            <a:off x="14869273" y="-2098748"/>
            <a:ext cx="3705427" cy="3905589"/>
          </a:xfrm>
          <a:custGeom>
            <a:avLst/>
            <a:gdLst/>
            <a:ahLst/>
            <a:cxnLst/>
            <a:rect r="r" b="b" t="t" l="l"/>
            <a:pathLst>
              <a:path h="3905589" w="3705427">
                <a:moveTo>
                  <a:pt x="0" y="0"/>
                </a:moveTo>
                <a:lnTo>
                  <a:pt x="3705427" y="0"/>
                </a:lnTo>
                <a:lnTo>
                  <a:pt x="3705427" y="3905589"/>
                </a:lnTo>
                <a:lnTo>
                  <a:pt x="0" y="3905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02870" y="1279101"/>
            <a:ext cx="1073337" cy="1073337"/>
          </a:xfrm>
          <a:custGeom>
            <a:avLst/>
            <a:gdLst/>
            <a:ahLst/>
            <a:cxnLst/>
            <a:rect r="r" b="b" t="t" l="l"/>
            <a:pathLst>
              <a:path h="1073337" w="1073337">
                <a:moveTo>
                  <a:pt x="0" y="0"/>
                </a:moveTo>
                <a:lnTo>
                  <a:pt x="1073336" y="0"/>
                </a:lnTo>
                <a:lnTo>
                  <a:pt x="1073336" y="1073337"/>
                </a:lnTo>
                <a:lnTo>
                  <a:pt x="0" y="1073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6147931" y="2273854"/>
            <a:ext cx="456551" cy="456551"/>
          </a:xfrm>
          <a:custGeom>
            <a:avLst/>
            <a:gdLst/>
            <a:ahLst/>
            <a:cxnLst/>
            <a:rect r="r" b="b" t="t" l="l"/>
            <a:pathLst>
              <a:path h="456551" w="456551">
                <a:moveTo>
                  <a:pt x="0" y="0"/>
                </a:moveTo>
                <a:lnTo>
                  <a:pt x="456551" y="0"/>
                </a:lnTo>
                <a:lnTo>
                  <a:pt x="456551" y="456551"/>
                </a:lnTo>
                <a:lnTo>
                  <a:pt x="0" y="4565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60067" y="8446709"/>
            <a:ext cx="659197" cy="659197"/>
          </a:xfrm>
          <a:custGeom>
            <a:avLst/>
            <a:gdLst/>
            <a:ahLst/>
            <a:cxnLst/>
            <a:rect r="r" b="b" t="t" l="l"/>
            <a:pathLst>
              <a:path h="659197" w="659197">
                <a:moveTo>
                  <a:pt x="0" y="0"/>
                </a:moveTo>
                <a:lnTo>
                  <a:pt x="659196" y="0"/>
                </a:lnTo>
                <a:lnTo>
                  <a:pt x="659196" y="659197"/>
                </a:lnTo>
                <a:lnTo>
                  <a:pt x="0" y="65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250990" y="9157302"/>
            <a:ext cx="659197" cy="659197"/>
          </a:xfrm>
          <a:custGeom>
            <a:avLst/>
            <a:gdLst/>
            <a:ahLst/>
            <a:cxnLst/>
            <a:rect r="r" b="b" t="t" l="l"/>
            <a:pathLst>
              <a:path h="659197" w="659197">
                <a:moveTo>
                  <a:pt x="0" y="0"/>
                </a:moveTo>
                <a:lnTo>
                  <a:pt x="659197" y="0"/>
                </a:lnTo>
                <a:lnTo>
                  <a:pt x="659197" y="659196"/>
                </a:lnTo>
                <a:lnTo>
                  <a:pt x="0" y="6591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3493371" y="2887407"/>
            <a:ext cx="11301259" cy="5551743"/>
          </a:xfrm>
          <a:custGeom>
            <a:avLst/>
            <a:gdLst/>
            <a:ahLst/>
            <a:cxnLst/>
            <a:rect r="r" b="b" t="t" l="l"/>
            <a:pathLst>
              <a:path h="5551743" w="11301259">
                <a:moveTo>
                  <a:pt x="0" y="0"/>
                </a:moveTo>
                <a:lnTo>
                  <a:pt x="11301258" y="0"/>
                </a:lnTo>
                <a:lnTo>
                  <a:pt x="11301258" y="5551743"/>
                </a:lnTo>
                <a:lnTo>
                  <a:pt x="0" y="5551743"/>
                </a:lnTo>
                <a:lnTo>
                  <a:pt x="0" y="0"/>
                </a:lnTo>
                <a:close/>
              </a:path>
            </a:pathLst>
          </a:custGeom>
          <a:blipFill>
            <a:blip r:embed="rId12"/>
            <a:stretch>
              <a:fillRect l="0" t="0" r="0" b="0"/>
            </a:stretch>
          </a:blipFill>
        </p:spPr>
      </p:sp>
      <p:sp>
        <p:nvSpPr>
          <p:cNvPr name="TextBox 16" id="16"/>
          <p:cNvSpPr txBox="true"/>
          <p:nvPr/>
        </p:nvSpPr>
        <p:spPr>
          <a:xfrm rot="0">
            <a:off x="4075378" y="1551020"/>
            <a:ext cx="10137245" cy="1111234"/>
          </a:xfrm>
          <a:prstGeom prst="rect">
            <a:avLst/>
          </a:prstGeom>
        </p:spPr>
        <p:txBody>
          <a:bodyPr anchor="t" rtlCol="false" tIns="0" lIns="0" bIns="0" rIns="0">
            <a:spAutoFit/>
          </a:bodyPr>
          <a:lstStyle/>
          <a:p>
            <a:pPr algn="ctr">
              <a:lnSpc>
                <a:spcPts val="9099"/>
              </a:lnSpc>
            </a:pPr>
            <a:r>
              <a:rPr lang="en-US" sz="6499" b="true">
                <a:solidFill>
                  <a:srgbClr val="000000"/>
                </a:solidFill>
                <a:latin typeface="Glacial Indifference Bold"/>
                <a:ea typeface="Glacial Indifference Bold"/>
                <a:cs typeface="Glacial Indifference Bold"/>
                <a:sym typeface="Glacial Indifference Bold"/>
              </a:rPr>
              <a:t>Statistik Deskriptif</a:t>
            </a:r>
          </a:p>
        </p:txBody>
      </p:sp>
      <p:grpSp>
        <p:nvGrpSpPr>
          <p:cNvPr name="Group 17" id="17"/>
          <p:cNvGrpSpPr/>
          <p:nvPr/>
        </p:nvGrpSpPr>
        <p:grpSpPr>
          <a:xfrm rot="0">
            <a:off x="728554"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3"/>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213565"/>
            <a:chOff x="0" y="0"/>
            <a:chExt cx="4816593" cy="56248"/>
          </a:xfrm>
        </p:grpSpPr>
        <p:sp>
          <p:nvSpPr>
            <p:cNvPr name="Freeform 6" id="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7" id="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11</a:t>
            </a:r>
          </a:p>
        </p:txBody>
      </p:sp>
      <p:sp>
        <p:nvSpPr>
          <p:cNvPr name="AutoShape 9" id="9"/>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0" id="10"/>
          <p:cNvSpPr/>
          <p:nvPr/>
        </p:nvSpPr>
        <p:spPr>
          <a:xfrm flipH="false" flipV="false" rot="0">
            <a:off x="14869273" y="-2098748"/>
            <a:ext cx="3705427" cy="3905589"/>
          </a:xfrm>
          <a:custGeom>
            <a:avLst/>
            <a:gdLst/>
            <a:ahLst/>
            <a:cxnLst/>
            <a:rect r="r" b="b" t="t" l="l"/>
            <a:pathLst>
              <a:path h="3905589" w="3705427">
                <a:moveTo>
                  <a:pt x="0" y="0"/>
                </a:moveTo>
                <a:lnTo>
                  <a:pt x="3705427" y="0"/>
                </a:lnTo>
                <a:lnTo>
                  <a:pt x="3705427" y="3905589"/>
                </a:lnTo>
                <a:lnTo>
                  <a:pt x="0" y="3905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02870" y="1279101"/>
            <a:ext cx="1073337" cy="1073337"/>
          </a:xfrm>
          <a:custGeom>
            <a:avLst/>
            <a:gdLst/>
            <a:ahLst/>
            <a:cxnLst/>
            <a:rect r="r" b="b" t="t" l="l"/>
            <a:pathLst>
              <a:path h="1073337" w="1073337">
                <a:moveTo>
                  <a:pt x="0" y="0"/>
                </a:moveTo>
                <a:lnTo>
                  <a:pt x="1073336" y="0"/>
                </a:lnTo>
                <a:lnTo>
                  <a:pt x="1073336" y="1073337"/>
                </a:lnTo>
                <a:lnTo>
                  <a:pt x="0" y="1073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6147931" y="2273854"/>
            <a:ext cx="456551" cy="456551"/>
          </a:xfrm>
          <a:custGeom>
            <a:avLst/>
            <a:gdLst/>
            <a:ahLst/>
            <a:cxnLst/>
            <a:rect r="r" b="b" t="t" l="l"/>
            <a:pathLst>
              <a:path h="456551" w="456551">
                <a:moveTo>
                  <a:pt x="0" y="0"/>
                </a:moveTo>
                <a:lnTo>
                  <a:pt x="456551" y="0"/>
                </a:lnTo>
                <a:lnTo>
                  <a:pt x="456551" y="456551"/>
                </a:lnTo>
                <a:lnTo>
                  <a:pt x="0" y="4565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60067" y="8446709"/>
            <a:ext cx="659197" cy="659197"/>
          </a:xfrm>
          <a:custGeom>
            <a:avLst/>
            <a:gdLst/>
            <a:ahLst/>
            <a:cxnLst/>
            <a:rect r="r" b="b" t="t" l="l"/>
            <a:pathLst>
              <a:path h="659197" w="659197">
                <a:moveTo>
                  <a:pt x="0" y="0"/>
                </a:moveTo>
                <a:lnTo>
                  <a:pt x="659196" y="0"/>
                </a:lnTo>
                <a:lnTo>
                  <a:pt x="659196" y="659197"/>
                </a:lnTo>
                <a:lnTo>
                  <a:pt x="0" y="65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250990" y="9157302"/>
            <a:ext cx="659197" cy="659197"/>
          </a:xfrm>
          <a:custGeom>
            <a:avLst/>
            <a:gdLst/>
            <a:ahLst/>
            <a:cxnLst/>
            <a:rect r="r" b="b" t="t" l="l"/>
            <a:pathLst>
              <a:path h="659197" w="659197">
                <a:moveTo>
                  <a:pt x="0" y="0"/>
                </a:moveTo>
                <a:lnTo>
                  <a:pt x="659197" y="0"/>
                </a:lnTo>
                <a:lnTo>
                  <a:pt x="659197" y="659196"/>
                </a:lnTo>
                <a:lnTo>
                  <a:pt x="0" y="6591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3493371" y="2817482"/>
            <a:ext cx="11301259" cy="6102680"/>
          </a:xfrm>
          <a:custGeom>
            <a:avLst/>
            <a:gdLst/>
            <a:ahLst/>
            <a:cxnLst/>
            <a:rect r="r" b="b" t="t" l="l"/>
            <a:pathLst>
              <a:path h="6102680" w="11301259">
                <a:moveTo>
                  <a:pt x="0" y="0"/>
                </a:moveTo>
                <a:lnTo>
                  <a:pt x="11301258" y="0"/>
                </a:lnTo>
                <a:lnTo>
                  <a:pt x="11301258" y="6102680"/>
                </a:lnTo>
                <a:lnTo>
                  <a:pt x="0" y="6102680"/>
                </a:lnTo>
                <a:lnTo>
                  <a:pt x="0" y="0"/>
                </a:lnTo>
                <a:close/>
              </a:path>
            </a:pathLst>
          </a:custGeom>
          <a:blipFill>
            <a:blip r:embed="rId12"/>
            <a:stretch>
              <a:fillRect l="0" t="0" r="0" b="0"/>
            </a:stretch>
          </a:blipFill>
        </p:spPr>
      </p:sp>
      <p:sp>
        <p:nvSpPr>
          <p:cNvPr name="TextBox 16" id="16"/>
          <p:cNvSpPr txBox="true"/>
          <p:nvPr/>
        </p:nvSpPr>
        <p:spPr>
          <a:xfrm rot="0">
            <a:off x="4075378" y="1551020"/>
            <a:ext cx="10137245" cy="1111234"/>
          </a:xfrm>
          <a:prstGeom prst="rect">
            <a:avLst/>
          </a:prstGeom>
        </p:spPr>
        <p:txBody>
          <a:bodyPr anchor="t" rtlCol="false" tIns="0" lIns="0" bIns="0" rIns="0">
            <a:spAutoFit/>
          </a:bodyPr>
          <a:lstStyle/>
          <a:p>
            <a:pPr algn="ctr">
              <a:lnSpc>
                <a:spcPts val="9099"/>
              </a:lnSpc>
            </a:pPr>
            <a:r>
              <a:rPr lang="en-US" sz="6499" b="true">
                <a:solidFill>
                  <a:srgbClr val="000000"/>
                </a:solidFill>
                <a:latin typeface="Glacial Indifference Bold"/>
                <a:ea typeface="Glacial Indifference Bold"/>
                <a:cs typeface="Glacial Indifference Bold"/>
                <a:sym typeface="Glacial Indifference Bold"/>
              </a:rPr>
              <a:t>Statistik Deskriptif</a:t>
            </a:r>
          </a:p>
        </p:txBody>
      </p:sp>
      <p:grpSp>
        <p:nvGrpSpPr>
          <p:cNvPr name="Group 17" id="17"/>
          <p:cNvGrpSpPr/>
          <p:nvPr/>
        </p:nvGrpSpPr>
        <p:grpSpPr>
          <a:xfrm rot="0">
            <a:off x="728554"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3"/>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213565"/>
            <a:chOff x="0" y="0"/>
            <a:chExt cx="4816593" cy="56248"/>
          </a:xfrm>
        </p:grpSpPr>
        <p:sp>
          <p:nvSpPr>
            <p:cNvPr name="Freeform 6" id="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7" id="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12</a:t>
            </a:r>
          </a:p>
        </p:txBody>
      </p:sp>
      <p:sp>
        <p:nvSpPr>
          <p:cNvPr name="AutoShape 9" id="9"/>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0" id="10"/>
          <p:cNvSpPr/>
          <p:nvPr/>
        </p:nvSpPr>
        <p:spPr>
          <a:xfrm flipH="false" flipV="false" rot="0">
            <a:off x="14869273" y="-2098748"/>
            <a:ext cx="3705427" cy="3905589"/>
          </a:xfrm>
          <a:custGeom>
            <a:avLst/>
            <a:gdLst/>
            <a:ahLst/>
            <a:cxnLst/>
            <a:rect r="r" b="b" t="t" l="l"/>
            <a:pathLst>
              <a:path h="3905589" w="3705427">
                <a:moveTo>
                  <a:pt x="0" y="0"/>
                </a:moveTo>
                <a:lnTo>
                  <a:pt x="3705427" y="0"/>
                </a:lnTo>
                <a:lnTo>
                  <a:pt x="3705427" y="3905589"/>
                </a:lnTo>
                <a:lnTo>
                  <a:pt x="0" y="3905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02870" y="1279101"/>
            <a:ext cx="1073337" cy="1073337"/>
          </a:xfrm>
          <a:custGeom>
            <a:avLst/>
            <a:gdLst/>
            <a:ahLst/>
            <a:cxnLst/>
            <a:rect r="r" b="b" t="t" l="l"/>
            <a:pathLst>
              <a:path h="1073337" w="1073337">
                <a:moveTo>
                  <a:pt x="0" y="0"/>
                </a:moveTo>
                <a:lnTo>
                  <a:pt x="1073336" y="0"/>
                </a:lnTo>
                <a:lnTo>
                  <a:pt x="1073336" y="1073337"/>
                </a:lnTo>
                <a:lnTo>
                  <a:pt x="0" y="1073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6147931" y="2273854"/>
            <a:ext cx="456551" cy="456551"/>
          </a:xfrm>
          <a:custGeom>
            <a:avLst/>
            <a:gdLst/>
            <a:ahLst/>
            <a:cxnLst/>
            <a:rect r="r" b="b" t="t" l="l"/>
            <a:pathLst>
              <a:path h="456551" w="456551">
                <a:moveTo>
                  <a:pt x="0" y="0"/>
                </a:moveTo>
                <a:lnTo>
                  <a:pt x="456551" y="0"/>
                </a:lnTo>
                <a:lnTo>
                  <a:pt x="456551" y="456551"/>
                </a:lnTo>
                <a:lnTo>
                  <a:pt x="0" y="4565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60067" y="8446709"/>
            <a:ext cx="659197" cy="659197"/>
          </a:xfrm>
          <a:custGeom>
            <a:avLst/>
            <a:gdLst/>
            <a:ahLst/>
            <a:cxnLst/>
            <a:rect r="r" b="b" t="t" l="l"/>
            <a:pathLst>
              <a:path h="659197" w="659197">
                <a:moveTo>
                  <a:pt x="0" y="0"/>
                </a:moveTo>
                <a:lnTo>
                  <a:pt x="659196" y="0"/>
                </a:lnTo>
                <a:lnTo>
                  <a:pt x="659196" y="659197"/>
                </a:lnTo>
                <a:lnTo>
                  <a:pt x="0" y="65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250990" y="9157302"/>
            <a:ext cx="659197" cy="659197"/>
          </a:xfrm>
          <a:custGeom>
            <a:avLst/>
            <a:gdLst/>
            <a:ahLst/>
            <a:cxnLst/>
            <a:rect r="r" b="b" t="t" l="l"/>
            <a:pathLst>
              <a:path h="659197" w="659197">
                <a:moveTo>
                  <a:pt x="0" y="0"/>
                </a:moveTo>
                <a:lnTo>
                  <a:pt x="659197" y="0"/>
                </a:lnTo>
                <a:lnTo>
                  <a:pt x="659197" y="659196"/>
                </a:lnTo>
                <a:lnTo>
                  <a:pt x="0" y="6591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3493371" y="3191624"/>
            <a:ext cx="11301259" cy="5255085"/>
          </a:xfrm>
          <a:custGeom>
            <a:avLst/>
            <a:gdLst/>
            <a:ahLst/>
            <a:cxnLst/>
            <a:rect r="r" b="b" t="t" l="l"/>
            <a:pathLst>
              <a:path h="5255085" w="11301259">
                <a:moveTo>
                  <a:pt x="0" y="0"/>
                </a:moveTo>
                <a:lnTo>
                  <a:pt x="11301258" y="0"/>
                </a:lnTo>
                <a:lnTo>
                  <a:pt x="11301258" y="5255085"/>
                </a:lnTo>
                <a:lnTo>
                  <a:pt x="0" y="5255085"/>
                </a:lnTo>
                <a:lnTo>
                  <a:pt x="0" y="0"/>
                </a:lnTo>
                <a:close/>
              </a:path>
            </a:pathLst>
          </a:custGeom>
          <a:blipFill>
            <a:blip r:embed="rId12"/>
            <a:stretch>
              <a:fillRect l="0" t="0" r="0" b="0"/>
            </a:stretch>
          </a:blipFill>
        </p:spPr>
      </p:sp>
      <p:sp>
        <p:nvSpPr>
          <p:cNvPr name="TextBox 16" id="16"/>
          <p:cNvSpPr txBox="true"/>
          <p:nvPr/>
        </p:nvSpPr>
        <p:spPr>
          <a:xfrm rot="0">
            <a:off x="4075378" y="1551020"/>
            <a:ext cx="10137245" cy="1111234"/>
          </a:xfrm>
          <a:prstGeom prst="rect">
            <a:avLst/>
          </a:prstGeom>
        </p:spPr>
        <p:txBody>
          <a:bodyPr anchor="t" rtlCol="false" tIns="0" lIns="0" bIns="0" rIns="0">
            <a:spAutoFit/>
          </a:bodyPr>
          <a:lstStyle/>
          <a:p>
            <a:pPr algn="ctr">
              <a:lnSpc>
                <a:spcPts val="9099"/>
              </a:lnSpc>
            </a:pPr>
            <a:r>
              <a:rPr lang="en-US" sz="6499" b="true">
                <a:solidFill>
                  <a:srgbClr val="000000"/>
                </a:solidFill>
                <a:latin typeface="Glacial Indifference Bold"/>
                <a:ea typeface="Glacial Indifference Bold"/>
                <a:cs typeface="Glacial Indifference Bold"/>
                <a:sym typeface="Glacial Indifference Bold"/>
              </a:rPr>
              <a:t>Statistik Deskriptif</a:t>
            </a:r>
          </a:p>
        </p:txBody>
      </p:sp>
      <p:grpSp>
        <p:nvGrpSpPr>
          <p:cNvPr name="Group 17" id="17"/>
          <p:cNvGrpSpPr/>
          <p:nvPr/>
        </p:nvGrpSpPr>
        <p:grpSpPr>
          <a:xfrm rot="0">
            <a:off x="728554"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3"/>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213565"/>
            <a:chOff x="0" y="0"/>
            <a:chExt cx="4816593" cy="56248"/>
          </a:xfrm>
        </p:grpSpPr>
        <p:sp>
          <p:nvSpPr>
            <p:cNvPr name="Freeform 6" id="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7" id="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13</a:t>
            </a:r>
          </a:p>
        </p:txBody>
      </p:sp>
      <p:sp>
        <p:nvSpPr>
          <p:cNvPr name="AutoShape 9" id="9"/>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0" id="10"/>
          <p:cNvSpPr/>
          <p:nvPr/>
        </p:nvSpPr>
        <p:spPr>
          <a:xfrm flipH="false" flipV="false" rot="0">
            <a:off x="14869273" y="-2098748"/>
            <a:ext cx="3705427" cy="3905589"/>
          </a:xfrm>
          <a:custGeom>
            <a:avLst/>
            <a:gdLst/>
            <a:ahLst/>
            <a:cxnLst/>
            <a:rect r="r" b="b" t="t" l="l"/>
            <a:pathLst>
              <a:path h="3905589" w="3705427">
                <a:moveTo>
                  <a:pt x="0" y="0"/>
                </a:moveTo>
                <a:lnTo>
                  <a:pt x="3705427" y="0"/>
                </a:lnTo>
                <a:lnTo>
                  <a:pt x="3705427" y="3905589"/>
                </a:lnTo>
                <a:lnTo>
                  <a:pt x="0" y="3905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02870" y="1279101"/>
            <a:ext cx="1073337" cy="1073337"/>
          </a:xfrm>
          <a:custGeom>
            <a:avLst/>
            <a:gdLst/>
            <a:ahLst/>
            <a:cxnLst/>
            <a:rect r="r" b="b" t="t" l="l"/>
            <a:pathLst>
              <a:path h="1073337" w="1073337">
                <a:moveTo>
                  <a:pt x="0" y="0"/>
                </a:moveTo>
                <a:lnTo>
                  <a:pt x="1073336" y="0"/>
                </a:lnTo>
                <a:lnTo>
                  <a:pt x="1073336" y="1073337"/>
                </a:lnTo>
                <a:lnTo>
                  <a:pt x="0" y="1073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6147931" y="2273854"/>
            <a:ext cx="456551" cy="456551"/>
          </a:xfrm>
          <a:custGeom>
            <a:avLst/>
            <a:gdLst/>
            <a:ahLst/>
            <a:cxnLst/>
            <a:rect r="r" b="b" t="t" l="l"/>
            <a:pathLst>
              <a:path h="456551" w="456551">
                <a:moveTo>
                  <a:pt x="0" y="0"/>
                </a:moveTo>
                <a:lnTo>
                  <a:pt x="456551" y="0"/>
                </a:lnTo>
                <a:lnTo>
                  <a:pt x="456551" y="456551"/>
                </a:lnTo>
                <a:lnTo>
                  <a:pt x="0" y="4565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60067" y="8446709"/>
            <a:ext cx="659197" cy="659197"/>
          </a:xfrm>
          <a:custGeom>
            <a:avLst/>
            <a:gdLst/>
            <a:ahLst/>
            <a:cxnLst/>
            <a:rect r="r" b="b" t="t" l="l"/>
            <a:pathLst>
              <a:path h="659197" w="659197">
                <a:moveTo>
                  <a:pt x="0" y="0"/>
                </a:moveTo>
                <a:lnTo>
                  <a:pt x="659196" y="0"/>
                </a:lnTo>
                <a:lnTo>
                  <a:pt x="659196" y="659197"/>
                </a:lnTo>
                <a:lnTo>
                  <a:pt x="0" y="65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250990" y="9157302"/>
            <a:ext cx="659197" cy="659197"/>
          </a:xfrm>
          <a:custGeom>
            <a:avLst/>
            <a:gdLst/>
            <a:ahLst/>
            <a:cxnLst/>
            <a:rect r="r" b="b" t="t" l="l"/>
            <a:pathLst>
              <a:path h="659197" w="659197">
                <a:moveTo>
                  <a:pt x="0" y="0"/>
                </a:moveTo>
                <a:lnTo>
                  <a:pt x="659197" y="0"/>
                </a:lnTo>
                <a:lnTo>
                  <a:pt x="659197" y="659196"/>
                </a:lnTo>
                <a:lnTo>
                  <a:pt x="0" y="6591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3493371" y="3120546"/>
            <a:ext cx="11301259" cy="5113820"/>
          </a:xfrm>
          <a:custGeom>
            <a:avLst/>
            <a:gdLst/>
            <a:ahLst/>
            <a:cxnLst/>
            <a:rect r="r" b="b" t="t" l="l"/>
            <a:pathLst>
              <a:path h="5113820" w="11301259">
                <a:moveTo>
                  <a:pt x="0" y="0"/>
                </a:moveTo>
                <a:lnTo>
                  <a:pt x="11301258" y="0"/>
                </a:lnTo>
                <a:lnTo>
                  <a:pt x="11301258" y="5113820"/>
                </a:lnTo>
                <a:lnTo>
                  <a:pt x="0" y="5113820"/>
                </a:lnTo>
                <a:lnTo>
                  <a:pt x="0" y="0"/>
                </a:lnTo>
                <a:close/>
              </a:path>
            </a:pathLst>
          </a:custGeom>
          <a:blipFill>
            <a:blip r:embed="rId12"/>
            <a:stretch>
              <a:fillRect l="0" t="0" r="0" b="0"/>
            </a:stretch>
          </a:blipFill>
        </p:spPr>
      </p:sp>
      <p:sp>
        <p:nvSpPr>
          <p:cNvPr name="TextBox 16" id="16"/>
          <p:cNvSpPr txBox="true"/>
          <p:nvPr/>
        </p:nvSpPr>
        <p:spPr>
          <a:xfrm rot="0">
            <a:off x="4075378" y="1551020"/>
            <a:ext cx="10137245" cy="1111234"/>
          </a:xfrm>
          <a:prstGeom prst="rect">
            <a:avLst/>
          </a:prstGeom>
        </p:spPr>
        <p:txBody>
          <a:bodyPr anchor="t" rtlCol="false" tIns="0" lIns="0" bIns="0" rIns="0">
            <a:spAutoFit/>
          </a:bodyPr>
          <a:lstStyle/>
          <a:p>
            <a:pPr algn="ctr">
              <a:lnSpc>
                <a:spcPts val="9099"/>
              </a:lnSpc>
            </a:pPr>
            <a:r>
              <a:rPr lang="en-US" sz="6499" b="true">
                <a:solidFill>
                  <a:srgbClr val="000000"/>
                </a:solidFill>
                <a:latin typeface="Glacial Indifference Bold"/>
                <a:ea typeface="Glacial Indifference Bold"/>
                <a:cs typeface="Glacial Indifference Bold"/>
                <a:sym typeface="Glacial Indifference Bold"/>
              </a:rPr>
              <a:t>Statistik Deskriptif</a:t>
            </a:r>
          </a:p>
        </p:txBody>
      </p:sp>
      <p:grpSp>
        <p:nvGrpSpPr>
          <p:cNvPr name="Group 17" id="17"/>
          <p:cNvGrpSpPr/>
          <p:nvPr/>
        </p:nvGrpSpPr>
        <p:grpSpPr>
          <a:xfrm rot="0">
            <a:off x="728554"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3"/>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213565"/>
            <a:chOff x="0" y="0"/>
            <a:chExt cx="4816593" cy="56248"/>
          </a:xfrm>
        </p:grpSpPr>
        <p:sp>
          <p:nvSpPr>
            <p:cNvPr name="Freeform 6" id="6"/>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7" id="7"/>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14</a:t>
            </a:r>
          </a:p>
        </p:txBody>
      </p:sp>
      <p:sp>
        <p:nvSpPr>
          <p:cNvPr name="AutoShape 9" id="9"/>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0" id="10"/>
          <p:cNvSpPr/>
          <p:nvPr/>
        </p:nvSpPr>
        <p:spPr>
          <a:xfrm flipH="false" flipV="false" rot="0">
            <a:off x="14869273" y="-2098748"/>
            <a:ext cx="3705427" cy="3905589"/>
          </a:xfrm>
          <a:custGeom>
            <a:avLst/>
            <a:gdLst/>
            <a:ahLst/>
            <a:cxnLst/>
            <a:rect r="r" b="b" t="t" l="l"/>
            <a:pathLst>
              <a:path h="3905589" w="3705427">
                <a:moveTo>
                  <a:pt x="0" y="0"/>
                </a:moveTo>
                <a:lnTo>
                  <a:pt x="3705427" y="0"/>
                </a:lnTo>
                <a:lnTo>
                  <a:pt x="3705427" y="3905589"/>
                </a:lnTo>
                <a:lnTo>
                  <a:pt x="0" y="3905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02870" y="1279101"/>
            <a:ext cx="1073337" cy="1073337"/>
          </a:xfrm>
          <a:custGeom>
            <a:avLst/>
            <a:gdLst/>
            <a:ahLst/>
            <a:cxnLst/>
            <a:rect r="r" b="b" t="t" l="l"/>
            <a:pathLst>
              <a:path h="1073337" w="1073337">
                <a:moveTo>
                  <a:pt x="0" y="0"/>
                </a:moveTo>
                <a:lnTo>
                  <a:pt x="1073336" y="0"/>
                </a:lnTo>
                <a:lnTo>
                  <a:pt x="1073336" y="1073337"/>
                </a:lnTo>
                <a:lnTo>
                  <a:pt x="0" y="1073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6147931" y="2273854"/>
            <a:ext cx="456551" cy="456551"/>
          </a:xfrm>
          <a:custGeom>
            <a:avLst/>
            <a:gdLst/>
            <a:ahLst/>
            <a:cxnLst/>
            <a:rect r="r" b="b" t="t" l="l"/>
            <a:pathLst>
              <a:path h="456551" w="456551">
                <a:moveTo>
                  <a:pt x="0" y="0"/>
                </a:moveTo>
                <a:lnTo>
                  <a:pt x="456551" y="0"/>
                </a:lnTo>
                <a:lnTo>
                  <a:pt x="456551" y="456551"/>
                </a:lnTo>
                <a:lnTo>
                  <a:pt x="0" y="4565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60067" y="8446709"/>
            <a:ext cx="659197" cy="659197"/>
          </a:xfrm>
          <a:custGeom>
            <a:avLst/>
            <a:gdLst/>
            <a:ahLst/>
            <a:cxnLst/>
            <a:rect r="r" b="b" t="t" l="l"/>
            <a:pathLst>
              <a:path h="659197" w="659197">
                <a:moveTo>
                  <a:pt x="0" y="0"/>
                </a:moveTo>
                <a:lnTo>
                  <a:pt x="659196" y="0"/>
                </a:lnTo>
                <a:lnTo>
                  <a:pt x="659196" y="659197"/>
                </a:lnTo>
                <a:lnTo>
                  <a:pt x="0" y="65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250990" y="9157302"/>
            <a:ext cx="659197" cy="659197"/>
          </a:xfrm>
          <a:custGeom>
            <a:avLst/>
            <a:gdLst/>
            <a:ahLst/>
            <a:cxnLst/>
            <a:rect r="r" b="b" t="t" l="l"/>
            <a:pathLst>
              <a:path h="659197" w="659197">
                <a:moveTo>
                  <a:pt x="0" y="0"/>
                </a:moveTo>
                <a:lnTo>
                  <a:pt x="659197" y="0"/>
                </a:lnTo>
                <a:lnTo>
                  <a:pt x="659197" y="659196"/>
                </a:lnTo>
                <a:lnTo>
                  <a:pt x="0" y="6591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3493371" y="3262257"/>
            <a:ext cx="11301259" cy="5184453"/>
          </a:xfrm>
          <a:custGeom>
            <a:avLst/>
            <a:gdLst/>
            <a:ahLst/>
            <a:cxnLst/>
            <a:rect r="r" b="b" t="t" l="l"/>
            <a:pathLst>
              <a:path h="5184453" w="11301259">
                <a:moveTo>
                  <a:pt x="0" y="0"/>
                </a:moveTo>
                <a:lnTo>
                  <a:pt x="11301258" y="0"/>
                </a:lnTo>
                <a:lnTo>
                  <a:pt x="11301258" y="5184452"/>
                </a:lnTo>
                <a:lnTo>
                  <a:pt x="0" y="5184452"/>
                </a:lnTo>
                <a:lnTo>
                  <a:pt x="0" y="0"/>
                </a:lnTo>
                <a:close/>
              </a:path>
            </a:pathLst>
          </a:custGeom>
          <a:blipFill>
            <a:blip r:embed="rId12"/>
            <a:stretch>
              <a:fillRect l="0" t="0" r="0" b="0"/>
            </a:stretch>
          </a:blipFill>
        </p:spPr>
      </p:sp>
      <p:sp>
        <p:nvSpPr>
          <p:cNvPr name="TextBox 16" id="16"/>
          <p:cNvSpPr txBox="true"/>
          <p:nvPr/>
        </p:nvSpPr>
        <p:spPr>
          <a:xfrm rot="0">
            <a:off x="4075378" y="1551020"/>
            <a:ext cx="10137245" cy="1111234"/>
          </a:xfrm>
          <a:prstGeom prst="rect">
            <a:avLst/>
          </a:prstGeom>
        </p:spPr>
        <p:txBody>
          <a:bodyPr anchor="t" rtlCol="false" tIns="0" lIns="0" bIns="0" rIns="0">
            <a:spAutoFit/>
          </a:bodyPr>
          <a:lstStyle/>
          <a:p>
            <a:pPr algn="ctr">
              <a:lnSpc>
                <a:spcPts val="9099"/>
              </a:lnSpc>
            </a:pPr>
            <a:r>
              <a:rPr lang="en-US" sz="6499" b="true">
                <a:solidFill>
                  <a:srgbClr val="000000"/>
                </a:solidFill>
                <a:latin typeface="Glacial Indifference Bold"/>
                <a:ea typeface="Glacial Indifference Bold"/>
                <a:cs typeface="Glacial Indifference Bold"/>
                <a:sym typeface="Glacial Indifference Bold"/>
              </a:rPr>
              <a:t>Statistik Deskriptif</a:t>
            </a:r>
          </a:p>
        </p:txBody>
      </p:sp>
      <p:grpSp>
        <p:nvGrpSpPr>
          <p:cNvPr name="Group 17" id="17"/>
          <p:cNvGrpSpPr/>
          <p:nvPr/>
        </p:nvGrpSpPr>
        <p:grpSpPr>
          <a:xfrm rot="0">
            <a:off x="728554"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3"/>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364232" y="-2136727"/>
            <a:ext cx="5790136" cy="5790136"/>
          </a:xfrm>
          <a:custGeom>
            <a:avLst/>
            <a:gdLst/>
            <a:ahLst/>
            <a:cxnLst/>
            <a:rect r="r" b="b" t="t" l="l"/>
            <a:pathLst>
              <a:path h="5790136" w="5790136">
                <a:moveTo>
                  <a:pt x="0" y="0"/>
                </a:moveTo>
                <a:lnTo>
                  <a:pt x="5790136" y="0"/>
                </a:lnTo>
                <a:lnTo>
                  <a:pt x="5790136" y="5790136"/>
                </a:lnTo>
                <a:lnTo>
                  <a:pt x="0" y="5790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0"/>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15</a:t>
            </a:r>
          </a:p>
        </p:txBody>
      </p:sp>
      <p:sp>
        <p:nvSpPr>
          <p:cNvPr name="AutoShape 10" id="10"/>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1" id="11"/>
          <p:cNvSpPr/>
          <p:nvPr/>
        </p:nvSpPr>
        <p:spPr>
          <a:xfrm flipH="false" flipV="false" rot="0">
            <a:off x="2599388" y="7061654"/>
            <a:ext cx="947230" cy="961211"/>
          </a:xfrm>
          <a:custGeom>
            <a:avLst/>
            <a:gdLst/>
            <a:ahLst/>
            <a:cxnLst/>
            <a:rect r="r" b="b" t="t" l="l"/>
            <a:pathLst>
              <a:path h="961211" w="947230">
                <a:moveTo>
                  <a:pt x="0" y="0"/>
                </a:moveTo>
                <a:lnTo>
                  <a:pt x="947230" y="0"/>
                </a:lnTo>
                <a:lnTo>
                  <a:pt x="947230" y="961211"/>
                </a:lnTo>
                <a:lnTo>
                  <a:pt x="0" y="961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728554" y="471103"/>
            <a:ext cx="4008304" cy="1427108"/>
            <a:chOff x="0" y="0"/>
            <a:chExt cx="5344405" cy="1902811"/>
          </a:xfrm>
        </p:grpSpPr>
        <p:sp>
          <p:nvSpPr>
            <p:cNvPr name="Freeform 13" id="13"/>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6"/>
              <a:stretch>
                <a:fillRect l="0" t="0" r="0" b="0"/>
              </a:stretch>
            </a:blipFill>
          </p:spPr>
        </p:sp>
        <p:sp>
          <p:nvSpPr>
            <p:cNvPr name="TextBox 14" id="14"/>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
        <p:nvSpPr>
          <p:cNvPr name="Freeform 15" id="15"/>
          <p:cNvSpPr/>
          <p:nvPr/>
        </p:nvSpPr>
        <p:spPr>
          <a:xfrm flipH="false" flipV="false" rot="0">
            <a:off x="5459039" y="3142826"/>
            <a:ext cx="7369923" cy="4606202"/>
          </a:xfrm>
          <a:custGeom>
            <a:avLst/>
            <a:gdLst/>
            <a:ahLst/>
            <a:cxnLst/>
            <a:rect r="r" b="b" t="t" l="l"/>
            <a:pathLst>
              <a:path h="4606202" w="7369923">
                <a:moveTo>
                  <a:pt x="0" y="0"/>
                </a:moveTo>
                <a:lnTo>
                  <a:pt x="7369922" y="0"/>
                </a:lnTo>
                <a:lnTo>
                  <a:pt x="7369922" y="4606201"/>
                </a:lnTo>
                <a:lnTo>
                  <a:pt x="0" y="4606201"/>
                </a:lnTo>
                <a:lnTo>
                  <a:pt x="0" y="0"/>
                </a:lnTo>
                <a:close/>
              </a:path>
            </a:pathLst>
          </a:custGeom>
          <a:blipFill>
            <a:blip r:embed="rId7"/>
            <a:stretch>
              <a:fillRect l="0" t="0" r="0" b="0"/>
            </a:stretch>
          </a:blipFill>
        </p:spPr>
      </p:sp>
      <p:sp>
        <p:nvSpPr>
          <p:cNvPr name="TextBox 16" id="16"/>
          <p:cNvSpPr txBox="true"/>
          <p:nvPr/>
        </p:nvSpPr>
        <p:spPr>
          <a:xfrm rot="0">
            <a:off x="3413827" y="1764861"/>
            <a:ext cx="11460346" cy="1120758"/>
          </a:xfrm>
          <a:prstGeom prst="rect">
            <a:avLst/>
          </a:prstGeom>
        </p:spPr>
        <p:txBody>
          <a:bodyPr anchor="t" rtlCol="false" tIns="0" lIns="0" bIns="0" rIns="0">
            <a:spAutoFit/>
          </a:bodyPr>
          <a:lstStyle/>
          <a:p>
            <a:pPr algn="ctr">
              <a:lnSpc>
                <a:spcPts val="9100"/>
              </a:lnSpc>
            </a:pPr>
            <a:r>
              <a:rPr lang="en-US" sz="6500" b="true">
                <a:solidFill>
                  <a:srgbClr val="000000"/>
                </a:solidFill>
                <a:latin typeface="Glacial Indifference Bold"/>
                <a:ea typeface="Glacial Indifference Bold"/>
                <a:cs typeface="Glacial Indifference Bold"/>
                <a:sym typeface="Glacial Indifference Bold"/>
              </a:rPr>
              <a:t>Stratified Random Sampling</a:t>
            </a:r>
          </a:p>
        </p:txBody>
      </p:sp>
      <p:sp>
        <p:nvSpPr>
          <p:cNvPr name="TextBox 17" id="17"/>
          <p:cNvSpPr txBox="true"/>
          <p:nvPr/>
        </p:nvSpPr>
        <p:spPr>
          <a:xfrm rot="0">
            <a:off x="1872451" y="7949083"/>
            <a:ext cx="14543097" cy="1661845"/>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Dilakukan stratified random sampling berdasarkan angkatan dengan proporsi 50% yang diambil dari tiap angkatan. Dari 125 data, diambil 62 sampel yang terdiri dari keempat angkatan.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364232" y="-2136727"/>
            <a:ext cx="5790136" cy="5790136"/>
          </a:xfrm>
          <a:custGeom>
            <a:avLst/>
            <a:gdLst/>
            <a:ahLst/>
            <a:cxnLst/>
            <a:rect r="r" b="b" t="t" l="l"/>
            <a:pathLst>
              <a:path h="5790136" w="5790136">
                <a:moveTo>
                  <a:pt x="0" y="0"/>
                </a:moveTo>
                <a:lnTo>
                  <a:pt x="5790136" y="0"/>
                </a:lnTo>
                <a:lnTo>
                  <a:pt x="5790136" y="5790136"/>
                </a:lnTo>
                <a:lnTo>
                  <a:pt x="0" y="5790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0"/>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16</a:t>
            </a:r>
          </a:p>
        </p:txBody>
      </p:sp>
      <p:sp>
        <p:nvSpPr>
          <p:cNvPr name="AutoShape 10" id="10"/>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1" id="11"/>
          <p:cNvSpPr/>
          <p:nvPr/>
        </p:nvSpPr>
        <p:spPr>
          <a:xfrm flipH="false" flipV="false" rot="0">
            <a:off x="2435049" y="6547906"/>
            <a:ext cx="947230" cy="961211"/>
          </a:xfrm>
          <a:custGeom>
            <a:avLst/>
            <a:gdLst/>
            <a:ahLst/>
            <a:cxnLst/>
            <a:rect r="r" b="b" t="t" l="l"/>
            <a:pathLst>
              <a:path h="961211" w="947230">
                <a:moveTo>
                  <a:pt x="0" y="0"/>
                </a:moveTo>
                <a:lnTo>
                  <a:pt x="947230" y="0"/>
                </a:lnTo>
                <a:lnTo>
                  <a:pt x="947230" y="961210"/>
                </a:lnTo>
                <a:lnTo>
                  <a:pt x="0" y="9612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3413827" y="1460126"/>
            <a:ext cx="11460346" cy="1120758"/>
          </a:xfrm>
          <a:prstGeom prst="rect">
            <a:avLst/>
          </a:prstGeom>
        </p:spPr>
        <p:txBody>
          <a:bodyPr anchor="t" rtlCol="false" tIns="0" lIns="0" bIns="0" rIns="0">
            <a:spAutoFit/>
          </a:bodyPr>
          <a:lstStyle/>
          <a:p>
            <a:pPr algn="ctr">
              <a:lnSpc>
                <a:spcPts val="9100"/>
              </a:lnSpc>
            </a:pPr>
            <a:r>
              <a:rPr lang="en-US" sz="6500" b="true">
                <a:solidFill>
                  <a:srgbClr val="000000"/>
                </a:solidFill>
                <a:latin typeface="Glacial Indifference Bold"/>
                <a:ea typeface="Glacial Indifference Bold"/>
                <a:cs typeface="Glacial Indifference Bold"/>
                <a:sym typeface="Glacial Indifference Bold"/>
              </a:rPr>
              <a:t>Uji Validitas dan Reliabilitas</a:t>
            </a:r>
          </a:p>
        </p:txBody>
      </p:sp>
      <p:sp>
        <p:nvSpPr>
          <p:cNvPr name="TextBox 13" id="13"/>
          <p:cNvSpPr txBox="true"/>
          <p:nvPr/>
        </p:nvSpPr>
        <p:spPr>
          <a:xfrm rot="0">
            <a:off x="1240901" y="3072986"/>
            <a:ext cx="3769606" cy="580423"/>
          </a:xfrm>
          <a:prstGeom prst="rect">
            <a:avLst/>
          </a:prstGeom>
        </p:spPr>
        <p:txBody>
          <a:bodyPr anchor="t" rtlCol="false" tIns="0" lIns="0" bIns="0" rIns="0">
            <a:spAutoFit/>
          </a:bodyPr>
          <a:lstStyle/>
          <a:p>
            <a:pPr algn="l">
              <a:lnSpc>
                <a:spcPts val="4759"/>
              </a:lnSpc>
            </a:pPr>
            <a:r>
              <a:rPr lang="en-US" sz="3399" b="true">
                <a:solidFill>
                  <a:srgbClr val="000000"/>
                </a:solidFill>
                <a:latin typeface="Glacial Indifference Bold"/>
                <a:ea typeface="Glacial Indifference Bold"/>
                <a:cs typeface="Glacial Indifference Bold"/>
                <a:sym typeface="Glacial Indifference Bold"/>
              </a:rPr>
              <a:t>Uji Validitas</a:t>
            </a:r>
          </a:p>
        </p:txBody>
      </p:sp>
      <p:sp>
        <p:nvSpPr>
          <p:cNvPr name="TextBox 14" id="14"/>
          <p:cNvSpPr txBox="true"/>
          <p:nvPr/>
        </p:nvSpPr>
        <p:spPr>
          <a:xfrm rot="0">
            <a:off x="1240901" y="3762078"/>
            <a:ext cx="15477521" cy="2785828"/>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Dari 20 fitur, terdapat 2 fitur yang memiliki p-value di atas 0.05 dan nilai korelasi yang sangat kecil, yaitu X6 dan X11. Hal itu mungkin terjadi dikarenakan rentang opsi jawaban yang kurang tepat, sehingga jawaban responden tidak konsisten. Oleh karena itu, kedua fitur tersebut tidak akan digunakan.</a:t>
            </a:r>
          </a:p>
          <a:p>
            <a:pPr algn="just">
              <a:lnSpc>
                <a:spcPts val="4480"/>
              </a:lnSpc>
            </a:pPr>
          </a:p>
        </p:txBody>
      </p:sp>
      <p:sp>
        <p:nvSpPr>
          <p:cNvPr name="TextBox 15" id="15"/>
          <p:cNvSpPr txBox="true"/>
          <p:nvPr/>
        </p:nvSpPr>
        <p:spPr>
          <a:xfrm rot="0">
            <a:off x="1240901" y="6357706"/>
            <a:ext cx="3769606" cy="580423"/>
          </a:xfrm>
          <a:prstGeom prst="rect">
            <a:avLst/>
          </a:prstGeom>
        </p:spPr>
        <p:txBody>
          <a:bodyPr anchor="t" rtlCol="false" tIns="0" lIns="0" bIns="0" rIns="0">
            <a:spAutoFit/>
          </a:bodyPr>
          <a:lstStyle/>
          <a:p>
            <a:pPr algn="l">
              <a:lnSpc>
                <a:spcPts val="4759"/>
              </a:lnSpc>
            </a:pPr>
            <a:r>
              <a:rPr lang="en-US" sz="3399" b="true">
                <a:solidFill>
                  <a:srgbClr val="000000"/>
                </a:solidFill>
                <a:latin typeface="Glacial Indifference Bold"/>
                <a:ea typeface="Glacial Indifference Bold"/>
                <a:cs typeface="Glacial Indifference Bold"/>
                <a:sym typeface="Glacial Indifference Bold"/>
              </a:rPr>
              <a:t>Uji Reliabilitas</a:t>
            </a:r>
          </a:p>
        </p:txBody>
      </p:sp>
      <p:sp>
        <p:nvSpPr>
          <p:cNvPr name="TextBox 16" id="16"/>
          <p:cNvSpPr txBox="true"/>
          <p:nvPr/>
        </p:nvSpPr>
        <p:spPr>
          <a:xfrm rot="0">
            <a:off x="1240901" y="7017618"/>
            <a:ext cx="15477521" cy="2223836"/>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Hasil uji reliabilitasnya sebesar 0.85,  hal itu berarti fitur-fitur kuesioner memiliki konsistensi yang baik, atau responden memberikan jawaban yang konsisten untuk fitur-fitur yang diharapkan.</a:t>
            </a:r>
          </a:p>
          <a:p>
            <a:pPr algn="just">
              <a:lnSpc>
                <a:spcPts val="4480"/>
              </a:lnSpc>
            </a:pPr>
          </a:p>
        </p:txBody>
      </p:sp>
      <p:grpSp>
        <p:nvGrpSpPr>
          <p:cNvPr name="Group 17" id="17"/>
          <p:cNvGrpSpPr/>
          <p:nvPr/>
        </p:nvGrpSpPr>
        <p:grpSpPr>
          <a:xfrm rot="0">
            <a:off x="728554"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6"/>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364232" y="-2136727"/>
            <a:ext cx="5790136" cy="5790136"/>
          </a:xfrm>
          <a:custGeom>
            <a:avLst/>
            <a:gdLst/>
            <a:ahLst/>
            <a:cxnLst/>
            <a:rect r="r" b="b" t="t" l="l"/>
            <a:pathLst>
              <a:path h="5790136" w="5790136">
                <a:moveTo>
                  <a:pt x="0" y="0"/>
                </a:moveTo>
                <a:lnTo>
                  <a:pt x="5790136" y="0"/>
                </a:lnTo>
                <a:lnTo>
                  <a:pt x="5790136" y="5790136"/>
                </a:lnTo>
                <a:lnTo>
                  <a:pt x="0" y="5790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0"/>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17</a:t>
            </a:r>
          </a:p>
        </p:txBody>
      </p:sp>
      <p:sp>
        <p:nvSpPr>
          <p:cNvPr name="AutoShape 10" id="10"/>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1" id="11"/>
          <p:cNvSpPr/>
          <p:nvPr/>
        </p:nvSpPr>
        <p:spPr>
          <a:xfrm flipH="false" flipV="false" rot="0">
            <a:off x="2599388" y="7061654"/>
            <a:ext cx="947230" cy="961211"/>
          </a:xfrm>
          <a:custGeom>
            <a:avLst/>
            <a:gdLst/>
            <a:ahLst/>
            <a:cxnLst/>
            <a:rect r="r" b="b" t="t" l="l"/>
            <a:pathLst>
              <a:path h="961211" w="947230">
                <a:moveTo>
                  <a:pt x="0" y="0"/>
                </a:moveTo>
                <a:lnTo>
                  <a:pt x="947230" y="0"/>
                </a:lnTo>
                <a:lnTo>
                  <a:pt x="947230" y="961211"/>
                </a:lnTo>
                <a:lnTo>
                  <a:pt x="0" y="961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3413827" y="1460126"/>
            <a:ext cx="11460346" cy="1120758"/>
          </a:xfrm>
          <a:prstGeom prst="rect">
            <a:avLst/>
          </a:prstGeom>
        </p:spPr>
        <p:txBody>
          <a:bodyPr anchor="t" rtlCol="false" tIns="0" lIns="0" bIns="0" rIns="0">
            <a:spAutoFit/>
          </a:bodyPr>
          <a:lstStyle/>
          <a:p>
            <a:pPr algn="ctr">
              <a:lnSpc>
                <a:spcPts val="9100"/>
              </a:lnSpc>
            </a:pPr>
            <a:r>
              <a:rPr lang="en-US" sz="6500" b="true">
                <a:solidFill>
                  <a:srgbClr val="000000"/>
                </a:solidFill>
                <a:latin typeface="Glacial Indifference Bold"/>
                <a:ea typeface="Glacial Indifference Bold"/>
                <a:cs typeface="Glacial Indifference Bold"/>
                <a:sym typeface="Glacial Indifference Bold"/>
              </a:rPr>
              <a:t>Analisis Faktor</a:t>
            </a:r>
          </a:p>
        </p:txBody>
      </p:sp>
      <p:sp>
        <p:nvSpPr>
          <p:cNvPr name="TextBox 13" id="13"/>
          <p:cNvSpPr txBox="true"/>
          <p:nvPr/>
        </p:nvSpPr>
        <p:spPr>
          <a:xfrm rot="0">
            <a:off x="1405240" y="3586734"/>
            <a:ext cx="3769606" cy="580423"/>
          </a:xfrm>
          <a:prstGeom prst="rect">
            <a:avLst/>
          </a:prstGeom>
        </p:spPr>
        <p:txBody>
          <a:bodyPr anchor="t" rtlCol="false" tIns="0" lIns="0" bIns="0" rIns="0">
            <a:spAutoFit/>
          </a:bodyPr>
          <a:lstStyle/>
          <a:p>
            <a:pPr algn="l">
              <a:lnSpc>
                <a:spcPts val="4759"/>
              </a:lnSpc>
            </a:pPr>
            <a:r>
              <a:rPr lang="en-US" sz="3399" b="true">
                <a:solidFill>
                  <a:srgbClr val="000000"/>
                </a:solidFill>
                <a:latin typeface="Glacial Indifference Bold"/>
                <a:ea typeface="Glacial Indifference Bold"/>
                <a:cs typeface="Glacial Indifference Bold"/>
                <a:sym typeface="Glacial Indifference Bold"/>
              </a:rPr>
              <a:t>Uji Kecukupan</a:t>
            </a:r>
          </a:p>
        </p:txBody>
      </p:sp>
      <p:sp>
        <p:nvSpPr>
          <p:cNvPr name="TextBox 14" id="14"/>
          <p:cNvSpPr txBox="true"/>
          <p:nvPr/>
        </p:nvSpPr>
        <p:spPr>
          <a:xfrm rot="0">
            <a:off x="1405240" y="4275826"/>
            <a:ext cx="15477521" cy="2785828"/>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Skor uji KMO sebesar 0.77. Skor KMO dikatakan ideal apabila di atas 0.7, yang berarti data penelitian ini sudah termasuk ideal untuk dilakukan analisis faktor. Begitu juga dengan hasil uji Bartlett yang memiliki skor chi-square cukup rendah, dan p-value yang signifikan. Hal itu menunjukkan data penelitian bisa dilakukan analisis faktor.</a:t>
            </a:r>
          </a:p>
          <a:p>
            <a:pPr algn="just">
              <a:lnSpc>
                <a:spcPts val="4480"/>
              </a:lnSpc>
            </a:pPr>
          </a:p>
        </p:txBody>
      </p:sp>
      <p:grpSp>
        <p:nvGrpSpPr>
          <p:cNvPr name="Group 15" id="15"/>
          <p:cNvGrpSpPr/>
          <p:nvPr/>
        </p:nvGrpSpPr>
        <p:grpSpPr>
          <a:xfrm rot="0">
            <a:off x="728554" y="471103"/>
            <a:ext cx="4008304" cy="1427108"/>
            <a:chOff x="0" y="0"/>
            <a:chExt cx="5344405" cy="1902811"/>
          </a:xfrm>
        </p:grpSpPr>
        <p:sp>
          <p:nvSpPr>
            <p:cNvPr name="Freeform 16" id="16"/>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6"/>
              <a:stretch>
                <a:fillRect l="0" t="0" r="0" b="0"/>
              </a:stretch>
            </a:blipFill>
          </p:spPr>
        </p:sp>
        <p:sp>
          <p:nvSpPr>
            <p:cNvPr name="TextBox 17" id="17"/>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364232" y="-2136727"/>
            <a:ext cx="5790136" cy="5790136"/>
          </a:xfrm>
          <a:custGeom>
            <a:avLst/>
            <a:gdLst/>
            <a:ahLst/>
            <a:cxnLst/>
            <a:rect r="r" b="b" t="t" l="l"/>
            <a:pathLst>
              <a:path h="5790136" w="5790136">
                <a:moveTo>
                  <a:pt x="0" y="0"/>
                </a:moveTo>
                <a:lnTo>
                  <a:pt x="5790136" y="0"/>
                </a:lnTo>
                <a:lnTo>
                  <a:pt x="5790136" y="5790136"/>
                </a:lnTo>
                <a:lnTo>
                  <a:pt x="0" y="5790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0"/>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18</a:t>
            </a:r>
          </a:p>
        </p:txBody>
      </p:sp>
      <p:sp>
        <p:nvSpPr>
          <p:cNvPr name="AutoShape 10" id="10"/>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1" id="11"/>
          <p:cNvSpPr/>
          <p:nvPr/>
        </p:nvSpPr>
        <p:spPr>
          <a:xfrm flipH="false" flipV="false" rot="0">
            <a:off x="2599388" y="7061654"/>
            <a:ext cx="947230" cy="961211"/>
          </a:xfrm>
          <a:custGeom>
            <a:avLst/>
            <a:gdLst/>
            <a:ahLst/>
            <a:cxnLst/>
            <a:rect r="r" b="b" t="t" l="l"/>
            <a:pathLst>
              <a:path h="961211" w="947230">
                <a:moveTo>
                  <a:pt x="0" y="0"/>
                </a:moveTo>
                <a:lnTo>
                  <a:pt x="947230" y="0"/>
                </a:lnTo>
                <a:lnTo>
                  <a:pt x="947230" y="961211"/>
                </a:lnTo>
                <a:lnTo>
                  <a:pt x="0" y="961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05240" y="4603253"/>
            <a:ext cx="8128386" cy="5192006"/>
          </a:xfrm>
          <a:custGeom>
            <a:avLst/>
            <a:gdLst/>
            <a:ahLst/>
            <a:cxnLst/>
            <a:rect r="r" b="b" t="t" l="l"/>
            <a:pathLst>
              <a:path h="5192006" w="8128386">
                <a:moveTo>
                  <a:pt x="0" y="0"/>
                </a:moveTo>
                <a:lnTo>
                  <a:pt x="8128385" y="0"/>
                </a:lnTo>
                <a:lnTo>
                  <a:pt x="8128385" y="5192006"/>
                </a:lnTo>
                <a:lnTo>
                  <a:pt x="0" y="5192006"/>
                </a:lnTo>
                <a:lnTo>
                  <a:pt x="0" y="0"/>
                </a:lnTo>
                <a:close/>
              </a:path>
            </a:pathLst>
          </a:custGeom>
          <a:blipFill>
            <a:blip r:embed="rId6"/>
            <a:stretch>
              <a:fillRect l="0" t="0" r="0" b="0"/>
            </a:stretch>
          </a:blipFill>
        </p:spPr>
      </p:sp>
      <p:sp>
        <p:nvSpPr>
          <p:cNvPr name="TextBox 13" id="13"/>
          <p:cNvSpPr txBox="true"/>
          <p:nvPr/>
        </p:nvSpPr>
        <p:spPr>
          <a:xfrm rot="0">
            <a:off x="3413827" y="895350"/>
            <a:ext cx="11460346" cy="1120758"/>
          </a:xfrm>
          <a:prstGeom prst="rect">
            <a:avLst/>
          </a:prstGeom>
        </p:spPr>
        <p:txBody>
          <a:bodyPr anchor="t" rtlCol="false" tIns="0" lIns="0" bIns="0" rIns="0">
            <a:spAutoFit/>
          </a:bodyPr>
          <a:lstStyle/>
          <a:p>
            <a:pPr algn="ctr">
              <a:lnSpc>
                <a:spcPts val="9100"/>
              </a:lnSpc>
            </a:pPr>
            <a:r>
              <a:rPr lang="en-US" sz="6500" b="true">
                <a:solidFill>
                  <a:srgbClr val="000000"/>
                </a:solidFill>
                <a:latin typeface="Glacial Indifference Bold"/>
                <a:ea typeface="Glacial Indifference Bold"/>
                <a:cs typeface="Glacial Indifference Bold"/>
                <a:sym typeface="Glacial Indifference Bold"/>
              </a:rPr>
              <a:t>Analisis Faktor</a:t>
            </a:r>
          </a:p>
        </p:txBody>
      </p:sp>
      <p:sp>
        <p:nvSpPr>
          <p:cNvPr name="TextBox 14" id="14"/>
          <p:cNvSpPr txBox="true"/>
          <p:nvPr/>
        </p:nvSpPr>
        <p:spPr>
          <a:xfrm rot="0">
            <a:off x="1405240" y="2478093"/>
            <a:ext cx="5611755" cy="580423"/>
          </a:xfrm>
          <a:prstGeom prst="rect">
            <a:avLst/>
          </a:prstGeom>
        </p:spPr>
        <p:txBody>
          <a:bodyPr anchor="t" rtlCol="false" tIns="0" lIns="0" bIns="0" rIns="0">
            <a:spAutoFit/>
          </a:bodyPr>
          <a:lstStyle/>
          <a:p>
            <a:pPr algn="l">
              <a:lnSpc>
                <a:spcPts val="4759"/>
              </a:lnSpc>
            </a:pPr>
            <a:r>
              <a:rPr lang="en-US" sz="3399" b="true">
                <a:solidFill>
                  <a:srgbClr val="000000"/>
                </a:solidFill>
                <a:latin typeface="Glacial Indifference Bold"/>
                <a:ea typeface="Glacial Indifference Bold"/>
                <a:cs typeface="Glacial Indifference Bold"/>
                <a:sym typeface="Glacial Indifference Bold"/>
              </a:rPr>
              <a:t>Menentukan Jumlah Faktor</a:t>
            </a:r>
          </a:p>
        </p:txBody>
      </p:sp>
      <p:sp>
        <p:nvSpPr>
          <p:cNvPr name="TextBox 15" id="15"/>
          <p:cNvSpPr txBox="true"/>
          <p:nvPr/>
        </p:nvSpPr>
        <p:spPr>
          <a:xfrm rot="0">
            <a:off x="1405240" y="3225225"/>
            <a:ext cx="15477521" cy="1099853"/>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Dari nilai-nilai eigen value, terdapat 5 eigen value yang bernilai lebih dari 1, sehingga jumlah faktor yang dipilih berdasarkan eigen value adalah 5 faktor.</a:t>
            </a:r>
          </a:p>
        </p:txBody>
      </p:sp>
      <p:sp>
        <p:nvSpPr>
          <p:cNvPr name="TextBox 16" id="16"/>
          <p:cNvSpPr txBox="true"/>
          <p:nvPr/>
        </p:nvSpPr>
        <p:spPr>
          <a:xfrm rot="0">
            <a:off x="9837409" y="4898831"/>
            <a:ext cx="7681761" cy="3909811"/>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Namun, jika dilihat berdasarkan scree plot, titik yang turunnya drastis dan kemudian melandai ada pada titik 2. Sehingga, diputuskan bahwa jumlah faktor diambil dari rata-rata keduanya, kemudian didapatkan jumlah faktor yang digunakan adalah 3.</a:t>
            </a:r>
          </a:p>
        </p:txBody>
      </p:sp>
      <p:grpSp>
        <p:nvGrpSpPr>
          <p:cNvPr name="Group 17" id="17"/>
          <p:cNvGrpSpPr/>
          <p:nvPr/>
        </p:nvGrpSpPr>
        <p:grpSpPr>
          <a:xfrm rot="0">
            <a:off x="728554"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7"/>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364232" y="-2136727"/>
            <a:ext cx="5790136" cy="5790136"/>
          </a:xfrm>
          <a:custGeom>
            <a:avLst/>
            <a:gdLst/>
            <a:ahLst/>
            <a:cxnLst/>
            <a:rect r="r" b="b" t="t" l="l"/>
            <a:pathLst>
              <a:path h="5790136" w="5790136">
                <a:moveTo>
                  <a:pt x="0" y="0"/>
                </a:moveTo>
                <a:lnTo>
                  <a:pt x="5790136" y="0"/>
                </a:lnTo>
                <a:lnTo>
                  <a:pt x="5790136" y="5790136"/>
                </a:lnTo>
                <a:lnTo>
                  <a:pt x="0" y="5790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0"/>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19</a:t>
            </a:r>
          </a:p>
        </p:txBody>
      </p:sp>
      <p:sp>
        <p:nvSpPr>
          <p:cNvPr name="AutoShape 10" id="10"/>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1" id="11"/>
          <p:cNvSpPr/>
          <p:nvPr/>
        </p:nvSpPr>
        <p:spPr>
          <a:xfrm flipH="false" flipV="false" rot="0">
            <a:off x="2599388" y="7061654"/>
            <a:ext cx="947230" cy="961211"/>
          </a:xfrm>
          <a:custGeom>
            <a:avLst/>
            <a:gdLst/>
            <a:ahLst/>
            <a:cxnLst/>
            <a:rect r="r" b="b" t="t" l="l"/>
            <a:pathLst>
              <a:path h="961211" w="947230">
                <a:moveTo>
                  <a:pt x="0" y="0"/>
                </a:moveTo>
                <a:lnTo>
                  <a:pt x="947230" y="0"/>
                </a:lnTo>
                <a:lnTo>
                  <a:pt x="947230" y="961211"/>
                </a:lnTo>
                <a:lnTo>
                  <a:pt x="0" y="961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3413827" y="895350"/>
            <a:ext cx="11460346" cy="1120758"/>
          </a:xfrm>
          <a:prstGeom prst="rect">
            <a:avLst/>
          </a:prstGeom>
        </p:spPr>
        <p:txBody>
          <a:bodyPr anchor="t" rtlCol="false" tIns="0" lIns="0" bIns="0" rIns="0">
            <a:spAutoFit/>
          </a:bodyPr>
          <a:lstStyle/>
          <a:p>
            <a:pPr algn="ctr">
              <a:lnSpc>
                <a:spcPts val="9100"/>
              </a:lnSpc>
            </a:pPr>
            <a:r>
              <a:rPr lang="en-US" sz="6500" b="true">
                <a:solidFill>
                  <a:srgbClr val="000000"/>
                </a:solidFill>
                <a:latin typeface="Glacial Indifference Bold"/>
                <a:ea typeface="Glacial Indifference Bold"/>
                <a:cs typeface="Glacial Indifference Bold"/>
                <a:sym typeface="Glacial Indifference Bold"/>
              </a:rPr>
              <a:t>Analisis Faktor</a:t>
            </a:r>
          </a:p>
        </p:txBody>
      </p:sp>
      <p:sp>
        <p:nvSpPr>
          <p:cNvPr name="TextBox 13" id="13"/>
          <p:cNvSpPr txBox="true"/>
          <p:nvPr/>
        </p:nvSpPr>
        <p:spPr>
          <a:xfrm rot="0">
            <a:off x="1405240" y="2768583"/>
            <a:ext cx="6012222" cy="580423"/>
          </a:xfrm>
          <a:prstGeom prst="rect">
            <a:avLst/>
          </a:prstGeom>
        </p:spPr>
        <p:txBody>
          <a:bodyPr anchor="t" rtlCol="false" tIns="0" lIns="0" bIns="0" rIns="0">
            <a:spAutoFit/>
          </a:bodyPr>
          <a:lstStyle/>
          <a:p>
            <a:pPr algn="l">
              <a:lnSpc>
                <a:spcPts val="4759"/>
              </a:lnSpc>
            </a:pPr>
            <a:r>
              <a:rPr lang="en-US" sz="3399" b="true">
                <a:solidFill>
                  <a:srgbClr val="000000"/>
                </a:solidFill>
                <a:latin typeface="Glacial Indifference Bold"/>
                <a:ea typeface="Glacial Indifference Bold"/>
                <a:cs typeface="Glacial Indifference Bold"/>
                <a:sym typeface="Glacial Indifference Bold"/>
              </a:rPr>
              <a:t>Faktor-faktor yang terbentuk</a:t>
            </a:r>
          </a:p>
        </p:txBody>
      </p:sp>
      <p:sp>
        <p:nvSpPr>
          <p:cNvPr name="TextBox 14" id="14"/>
          <p:cNvSpPr txBox="true"/>
          <p:nvPr/>
        </p:nvSpPr>
        <p:spPr>
          <a:xfrm rot="0">
            <a:off x="1405240" y="3701245"/>
            <a:ext cx="15477521" cy="5033794"/>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 Berikut adalah daftar fitur dengan loading tertinggi di setiap faktor.</a:t>
            </a:r>
          </a:p>
          <a:p>
            <a:pPr algn="just" marL="690881" indent="-345440" lvl="1">
              <a:lnSpc>
                <a:spcPts val="4480"/>
              </a:lnSpc>
              <a:buAutoNum type="arabicPeriod" startAt="1"/>
            </a:pPr>
            <a:r>
              <a:rPr lang="en-US" sz="3200">
                <a:solidFill>
                  <a:srgbClr val="000000"/>
                </a:solidFill>
                <a:latin typeface="Glacial Indifference"/>
                <a:ea typeface="Glacial Indifference"/>
                <a:cs typeface="Glacial Indifference"/>
                <a:sym typeface="Glacial Indifference"/>
              </a:rPr>
              <a:t>Faktor 1: X1, X5, X6, X7, X8, X9, X11, X12, X14, X15, X16</a:t>
            </a:r>
          </a:p>
          <a:p>
            <a:pPr algn="just" marL="690881" indent="-345440" lvl="1">
              <a:lnSpc>
                <a:spcPts val="4480"/>
              </a:lnSpc>
              <a:buAutoNum type="arabicPeriod" startAt="1"/>
            </a:pPr>
            <a:r>
              <a:rPr lang="en-US" sz="3200">
                <a:solidFill>
                  <a:srgbClr val="000000"/>
                </a:solidFill>
                <a:latin typeface="Glacial Indifference"/>
                <a:ea typeface="Glacial Indifference"/>
                <a:cs typeface="Glacial Indifference"/>
                <a:sym typeface="Glacial Indifference"/>
              </a:rPr>
              <a:t>Faktor 2: X2, X4, X10, X17, X18</a:t>
            </a:r>
          </a:p>
          <a:p>
            <a:pPr algn="just" marL="690881" indent="-345440" lvl="1">
              <a:lnSpc>
                <a:spcPts val="4480"/>
              </a:lnSpc>
              <a:buAutoNum type="arabicPeriod" startAt="1"/>
            </a:pPr>
            <a:r>
              <a:rPr lang="en-US" sz="3200">
                <a:solidFill>
                  <a:srgbClr val="000000"/>
                </a:solidFill>
                <a:latin typeface="Glacial Indifference"/>
                <a:ea typeface="Glacial Indifference"/>
                <a:cs typeface="Glacial Indifference"/>
                <a:sym typeface="Glacial Indifference"/>
              </a:rPr>
              <a:t>Faktor 3: X3, X13</a:t>
            </a:r>
          </a:p>
          <a:p>
            <a:pPr algn="just">
              <a:lnSpc>
                <a:spcPts val="4480"/>
              </a:lnSpc>
            </a:pPr>
            <a:r>
              <a:rPr lang="en-US" sz="3200">
                <a:solidFill>
                  <a:srgbClr val="000000"/>
                </a:solidFill>
                <a:latin typeface="Glacial Indifference"/>
                <a:ea typeface="Glacial Indifference"/>
                <a:cs typeface="Glacial Indifference"/>
                <a:sym typeface="Glacial Indifference"/>
              </a:rPr>
              <a:t>F</a:t>
            </a:r>
            <a:r>
              <a:rPr lang="en-US" sz="3200">
                <a:solidFill>
                  <a:srgbClr val="000000"/>
                </a:solidFill>
                <a:latin typeface="Glacial Indifference"/>
                <a:ea typeface="Glacial Indifference"/>
                <a:cs typeface="Glacial Indifference"/>
                <a:sym typeface="Glacial Indifference"/>
              </a:rPr>
              <a:t>aktor 1 dapat disimpulkan sebagai kesehatan fisik dan psikologis yang terpengaruh oleh tekanan akademik. Faktor 2 dapat disimpulkan sebagai keseimbangan antara kehidupan pribadi dan akademik. Faktor 3 dapat disimpulkan sebagai tekanan psikologis dari kegiatan non-akademik.</a:t>
            </a:r>
          </a:p>
          <a:p>
            <a:pPr algn="just">
              <a:lnSpc>
                <a:spcPts val="4480"/>
              </a:lnSpc>
            </a:pPr>
          </a:p>
        </p:txBody>
      </p:sp>
      <p:grpSp>
        <p:nvGrpSpPr>
          <p:cNvPr name="Group 15" id="15"/>
          <p:cNvGrpSpPr/>
          <p:nvPr/>
        </p:nvGrpSpPr>
        <p:grpSpPr>
          <a:xfrm rot="0">
            <a:off x="728554" y="471103"/>
            <a:ext cx="4008304" cy="1427108"/>
            <a:chOff x="0" y="0"/>
            <a:chExt cx="5344405" cy="1902811"/>
          </a:xfrm>
        </p:grpSpPr>
        <p:sp>
          <p:nvSpPr>
            <p:cNvPr name="Freeform 16" id="16"/>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6"/>
              <a:stretch>
                <a:fillRect l="0" t="0" r="0" b="0"/>
              </a:stretch>
            </a:blipFill>
          </p:spPr>
        </p:sp>
        <p:sp>
          <p:nvSpPr>
            <p:cNvPr name="TextBox 17" id="17"/>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364232" y="-2136727"/>
            <a:ext cx="5790136" cy="5790136"/>
          </a:xfrm>
          <a:custGeom>
            <a:avLst/>
            <a:gdLst/>
            <a:ahLst/>
            <a:cxnLst/>
            <a:rect r="r" b="b" t="t" l="l"/>
            <a:pathLst>
              <a:path h="5790136" w="5790136">
                <a:moveTo>
                  <a:pt x="0" y="0"/>
                </a:moveTo>
                <a:lnTo>
                  <a:pt x="5790136" y="0"/>
                </a:lnTo>
                <a:lnTo>
                  <a:pt x="5790136" y="5790136"/>
                </a:lnTo>
                <a:lnTo>
                  <a:pt x="0" y="5790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0"/>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20</a:t>
            </a:r>
          </a:p>
        </p:txBody>
      </p:sp>
      <p:sp>
        <p:nvSpPr>
          <p:cNvPr name="AutoShape 10" id="10"/>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1" id="11"/>
          <p:cNvSpPr/>
          <p:nvPr/>
        </p:nvSpPr>
        <p:spPr>
          <a:xfrm flipH="false" flipV="false" rot="0">
            <a:off x="2599388" y="7916343"/>
            <a:ext cx="947230" cy="961211"/>
          </a:xfrm>
          <a:custGeom>
            <a:avLst/>
            <a:gdLst/>
            <a:ahLst/>
            <a:cxnLst/>
            <a:rect r="r" b="b" t="t" l="l"/>
            <a:pathLst>
              <a:path h="961211" w="947230">
                <a:moveTo>
                  <a:pt x="0" y="0"/>
                </a:moveTo>
                <a:lnTo>
                  <a:pt x="947230" y="0"/>
                </a:lnTo>
                <a:lnTo>
                  <a:pt x="947230" y="961211"/>
                </a:lnTo>
                <a:lnTo>
                  <a:pt x="0" y="961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05240" y="4203509"/>
            <a:ext cx="11279181" cy="1436567"/>
          </a:xfrm>
          <a:custGeom>
            <a:avLst/>
            <a:gdLst/>
            <a:ahLst/>
            <a:cxnLst/>
            <a:rect r="r" b="b" t="t" l="l"/>
            <a:pathLst>
              <a:path h="1436567" w="11279181">
                <a:moveTo>
                  <a:pt x="0" y="0"/>
                </a:moveTo>
                <a:lnTo>
                  <a:pt x="11279181" y="0"/>
                </a:lnTo>
                <a:lnTo>
                  <a:pt x="11279181" y="1436567"/>
                </a:lnTo>
                <a:lnTo>
                  <a:pt x="0" y="1436567"/>
                </a:lnTo>
                <a:lnTo>
                  <a:pt x="0" y="0"/>
                </a:lnTo>
                <a:close/>
              </a:path>
            </a:pathLst>
          </a:custGeom>
          <a:blipFill>
            <a:blip r:embed="rId6"/>
            <a:stretch>
              <a:fillRect l="0" t="0" r="0" b="0"/>
            </a:stretch>
          </a:blipFill>
        </p:spPr>
      </p:sp>
      <p:sp>
        <p:nvSpPr>
          <p:cNvPr name="TextBox 13" id="13"/>
          <p:cNvSpPr txBox="true"/>
          <p:nvPr/>
        </p:nvSpPr>
        <p:spPr>
          <a:xfrm rot="0">
            <a:off x="3413827" y="1322515"/>
            <a:ext cx="11460346" cy="1120758"/>
          </a:xfrm>
          <a:prstGeom prst="rect">
            <a:avLst/>
          </a:prstGeom>
        </p:spPr>
        <p:txBody>
          <a:bodyPr anchor="t" rtlCol="false" tIns="0" lIns="0" bIns="0" rIns="0">
            <a:spAutoFit/>
          </a:bodyPr>
          <a:lstStyle/>
          <a:p>
            <a:pPr algn="ctr">
              <a:lnSpc>
                <a:spcPts val="9100"/>
              </a:lnSpc>
            </a:pPr>
            <a:r>
              <a:rPr lang="en-US" sz="6500" b="true">
                <a:solidFill>
                  <a:srgbClr val="000000"/>
                </a:solidFill>
                <a:latin typeface="Glacial Indifference Bold"/>
                <a:ea typeface="Glacial Indifference Bold"/>
                <a:cs typeface="Glacial Indifference Bold"/>
                <a:sym typeface="Glacial Indifference Bold"/>
              </a:rPr>
              <a:t>ANOVA</a:t>
            </a:r>
          </a:p>
        </p:txBody>
      </p:sp>
      <p:sp>
        <p:nvSpPr>
          <p:cNvPr name="TextBox 14" id="14"/>
          <p:cNvSpPr txBox="true"/>
          <p:nvPr/>
        </p:nvSpPr>
        <p:spPr>
          <a:xfrm rot="0">
            <a:off x="1405240" y="3213511"/>
            <a:ext cx="6012222" cy="580423"/>
          </a:xfrm>
          <a:prstGeom prst="rect">
            <a:avLst/>
          </a:prstGeom>
        </p:spPr>
        <p:txBody>
          <a:bodyPr anchor="t" rtlCol="false" tIns="0" lIns="0" bIns="0" rIns="0">
            <a:spAutoFit/>
          </a:bodyPr>
          <a:lstStyle/>
          <a:p>
            <a:pPr algn="l">
              <a:lnSpc>
                <a:spcPts val="4759"/>
              </a:lnSpc>
            </a:pPr>
            <a:r>
              <a:rPr lang="en-US" sz="3399" b="true">
                <a:solidFill>
                  <a:srgbClr val="000000"/>
                </a:solidFill>
                <a:latin typeface="Glacial Indifference Bold"/>
                <a:ea typeface="Glacial Indifference Bold"/>
                <a:cs typeface="Glacial Indifference Bold"/>
                <a:sym typeface="Glacial Indifference Bold"/>
              </a:rPr>
              <a:t>Faktor 1</a:t>
            </a:r>
          </a:p>
        </p:txBody>
      </p:sp>
      <p:sp>
        <p:nvSpPr>
          <p:cNvPr name="TextBox 15" id="15"/>
          <p:cNvSpPr txBox="true"/>
          <p:nvPr/>
        </p:nvSpPr>
        <p:spPr>
          <a:xfrm rot="0">
            <a:off x="1405240" y="6107896"/>
            <a:ext cx="15477521" cy="1661845"/>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Hal itu berarti kesehatan fisik dan psikologis mahasiswa berbeda secara signifikan di antara kelompok yang mengalami tekanan akademik berbeda, karena tingkat tekanan akademik yang berbeda memiliki dampak yang bervariasi pada kesehatan mahasiswa.</a:t>
            </a:r>
          </a:p>
        </p:txBody>
      </p:sp>
      <p:grpSp>
        <p:nvGrpSpPr>
          <p:cNvPr name="Group 16" id="16"/>
          <p:cNvGrpSpPr/>
          <p:nvPr/>
        </p:nvGrpSpPr>
        <p:grpSpPr>
          <a:xfrm rot="0">
            <a:off x="728554" y="471103"/>
            <a:ext cx="4008304" cy="1427108"/>
            <a:chOff x="0" y="0"/>
            <a:chExt cx="5344405" cy="1902811"/>
          </a:xfrm>
        </p:grpSpPr>
        <p:sp>
          <p:nvSpPr>
            <p:cNvPr name="Freeform 17" id="17"/>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7"/>
              <a:stretch>
                <a:fillRect l="0" t="0" r="0" b="0"/>
              </a:stretch>
            </a:blipFill>
          </p:spPr>
        </p:sp>
        <p:sp>
          <p:nvSpPr>
            <p:cNvPr name="TextBox 18" id="18"/>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364232" y="-2136727"/>
            <a:ext cx="5790136" cy="5790136"/>
          </a:xfrm>
          <a:custGeom>
            <a:avLst/>
            <a:gdLst/>
            <a:ahLst/>
            <a:cxnLst/>
            <a:rect r="r" b="b" t="t" l="l"/>
            <a:pathLst>
              <a:path h="5790136" w="5790136">
                <a:moveTo>
                  <a:pt x="0" y="0"/>
                </a:moveTo>
                <a:lnTo>
                  <a:pt x="5790136" y="0"/>
                </a:lnTo>
                <a:lnTo>
                  <a:pt x="5790136" y="5790136"/>
                </a:lnTo>
                <a:lnTo>
                  <a:pt x="0" y="5790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0"/>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21</a:t>
            </a:r>
          </a:p>
        </p:txBody>
      </p:sp>
      <p:sp>
        <p:nvSpPr>
          <p:cNvPr name="AutoShape 10" id="10"/>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1" id="11"/>
          <p:cNvSpPr/>
          <p:nvPr/>
        </p:nvSpPr>
        <p:spPr>
          <a:xfrm flipH="false" flipV="false" rot="0">
            <a:off x="2599388" y="7916343"/>
            <a:ext cx="947230" cy="961211"/>
          </a:xfrm>
          <a:custGeom>
            <a:avLst/>
            <a:gdLst/>
            <a:ahLst/>
            <a:cxnLst/>
            <a:rect r="r" b="b" t="t" l="l"/>
            <a:pathLst>
              <a:path h="961211" w="947230">
                <a:moveTo>
                  <a:pt x="0" y="0"/>
                </a:moveTo>
                <a:lnTo>
                  <a:pt x="947230" y="0"/>
                </a:lnTo>
                <a:lnTo>
                  <a:pt x="947230" y="961211"/>
                </a:lnTo>
                <a:lnTo>
                  <a:pt x="0" y="961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05240" y="4409382"/>
            <a:ext cx="11150424" cy="1140216"/>
          </a:xfrm>
          <a:custGeom>
            <a:avLst/>
            <a:gdLst/>
            <a:ahLst/>
            <a:cxnLst/>
            <a:rect r="r" b="b" t="t" l="l"/>
            <a:pathLst>
              <a:path h="1140216" w="11150424">
                <a:moveTo>
                  <a:pt x="0" y="0"/>
                </a:moveTo>
                <a:lnTo>
                  <a:pt x="11150423" y="0"/>
                </a:lnTo>
                <a:lnTo>
                  <a:pt x="11150423" y="1140216"/>
                </a:lnTo>
                <a:lnTo>
                  <a:pt x="0" y="1140216"/>
                </a:lnTo>
                <a:lnTo>
                  <a:pt x="0" y="0"/>
                </a:lnTo>
                <a:close/>
              </a:path>
            </a:pathLst>
          </a:custGeom>
          <a:blipFill>
            <a:blip r:embed="rId6"/>
            <a:stretch>
              <a:fillRect l="0" t="0" r="0" b="0"/>
            </a:stretch>
          </a:blipFill>
        </p:spPr>
      </p:sp>
      <p:sp>
        <p:nvSpPr>
          <p:cNvPr name="TextBox 13" id="13"/>
          <p:cNvSpPr txBox="true"/>
          <p:nvPr/>
        </p:nvSpPr>
        <p:spPr>
          <a:xfrm rot="0">
            <a:off x="3413827" y="1322515"/>
            <a:ext cx="11460346" cy="1120758"/>
          </a:xfrm>
          <a:prstGeom prst="rect">
            <a:avLst/>
          </a:prstGeom>
        </p:spPr>
        <p:txBody>
          <a:bodyPr anchor="t" rtlCol="false" tIns="0" lIns="0" bIns="0" rIns="0">
            <a:spAutoFit/>
          </a:bodyPr>
          <a:lstStyle/>
          <a:p>
            <a:pPr algn="ctr">
              <a:lnSpc>
                <a:spcPts val="9100"/>
              </a:lnSpc>
            </a:pPr>
            <a:r>
              <a:rPr lang="en-US" sz="6500" b="true">
                <a:solidFill>
                  <a:srgbClr val="000000"/>
                </a:solidFill>
                <a:latin typeface="Glacial Indifference Bold"/>
                <a:ea typeface="Glacial Indifference Bold"/>
                <a:cs typeface="Glacial Indifference Bold"/>
                <a:sym typeface="Glacial Indifference Bold"/>
              </a:rPr>
              <a:t>ANOVA</a:t>
            </a:r>
          </a:p>
        </p:txBody>
      </p:sp>
      <p:sp>
        <p:nvSpPr>
          <p:cNvPr name="TextBox 14" id="14"/>
          <p:cNvSpPr txBox="true"/>
          <p:nvPr/>
        </p:nvSpPr>
        <p:spPr>
          <a:xfrm rot="0">
            <a:off x="1405240" y="3213511"/>
            <a:ext cx="6012222" cy="580423"/>
          </a:xfrm>
          <a:prstGeom prst="rect">
            <a:avLst/>
          </a:prstGeom>
        </p:spPr>
        <p:txBody>
          <a:bodyPr anchor="t" rtlCol="false" tIns="0" lIns="0" bIns="0" rIns="0">
            <a:spAutoFit/>
          </a:bodyPr>
          <a:lstStyle/>
          <a:p>
            <a:pPr algn="l">
              <a:lnSpc>
                <a:spcPts val="4759"/>
              </a:lnSpc>
            </a:pPr>
            <a:r>
              <a:rPr lang="en-US" sz="3399" b="true">
                <a:solidFill>
                  <a:srgbClr val="000000"/>
                </a:solidFill>
                <a:latin typeface="Glacial Indifference Bold"/>
                <a:ea typeface="Glacial Indifference Bold"/>
                <a:cs typeface="Glacial Indifference Bold"/>
                <a:sym typeface="Glacial Indifference Bold"/>
              </a:rPr>
              <a:t>Faktor 2</a:t>
            </a:r>
          </a:p>
        </p:txBody>
      </p:sp>
      <p:sp>
        <p:nvSpPr>
          <p:cNvPr name="TextBox 15" id="15"/>
          <p:cNvSpPr txBox="true"/>
          <p:nvPr/>
        </p:nvSpPr>
        <p:spPr>
          <a:xfrm rot="0">
            <a:off x="1405240" y="6107896"/>
            <a:ext cx="15477521" cy="2223836"/>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Hal itu berarti kemampuan mahasiswa untuk menyeimbangkan kehidupan pribadi dan akademik mereka berbeda secara signifikan di antara kelompok, misalnya mahasiswa yang memiliki keseimbangan yang lebih baik mungkin memiliki pengalaman kuliah yang lebih positif dan lebih sedikit masalah kesehatan.</a:t>
            </a:r>
          </a:p>
        </p:txBody>
      </p:sp>
      <p:grpSp>
        <p:nvGrpSpPr>
          <p:cNvPr name="Group 16" id="16"/>
          <p:cNvGrpSpPr/>
          <p:nvPr/>
        </p:nvGrpSpPr>
        <p:grpSpPr>
          <a:xfrm rot="0">
            <a:off x="728554" y="471103"/>
            <a:ext cx="4008304" cy="1427108"/>
            <a:chOff x="0" y="0"/>
            <a:chExt cx="5344405" cy="1902811"/>
          </a:xfrm>
        </p:grpSpPr>
        <p:sp>
          <p:nvSpPr>
            <p:cNvPr name="Freeform 17" id="17"/>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7"/>
              <a:stretch>
                <a:fillRect l="0" t="0" r="0" b="0"/>
              </a:stretch>
            </a:blipFill>
          </p:spPr>
        </p:sp>
        <p:sp>
          <p:nvSpPr>
            <p:cNvPr name="TextBox 18" id="18"/>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364232" y="-2136727"/>
            <a:ext cx="5790136" cy="5790136"/>
          </a:xfrm>
          <a:custGeom>
            <a:avLst/>
            <a:gdLst/>
            <a:ahLst/>
            <a:cxnLst/>
            <a:rect r="r" b="b" t="t" l="l"/>
            <a:pathLst>
              <a:path h="5790136" w="5790136">
                <a:moveTo>
                  <a:pt x="0" y="0"/>
                </a:moveTo>
                <a:lnTo>
                  <a:pt x="5790136" y="0"/>
                </a:lnTo>
                <a:lnTo>
                  <a:pt x="5790136" y="5790136"/>
                </a:lnTo>
                <a:lnTo>
                  <a:pt x="0" y="5790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0"/>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22</a:t>
            </a:r>
          </a:p>
        </p:txBody>
      </p:sp>
      <p:sp>
        <p:nvSpPr>
          <p:cNvPr name="AutoShape 10" id="10"/>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1" id="11"/>
          <p:cNvSpPr/>
          <p:nvPr/>
        </p:nvSpPr>
        <p:spPr>
          <a:xfrm flipH="false" flipV="false" rot="0">
            <a:off x="2599388" y="7916343"/>
            <a:ext cx="947230" cy="961211"/>
          </a:xfrm>
          <a:custGeom>
            <a:avLst/>
            <a:gdLst/>
            <a:ahLst/>
            <a:cxnLst/>
            <a:rect r="r" b="b" t="t" l="l"/>
            <a:pathLst>
              <a:path h="961211" w="947230">
                <a:moveTo>
                  <a:pt x="0" y="0"/>
                </a:moveTo>
                <a:lnTo>
                  <a:pt x="947230" y="0"/>
                </a:lnTo>
                <a:lnTo>
                  <a:pt x="947230" y="961211"/>
                </a:lnTo>
                <a:lnTo>
                  <a:pt x="0" y="961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05240" y="4231338"/>
            <a:ext cx="11117531" cy="1496303"/>
          </a:xfrm>
          <a:custGeom>
            <a:avLst/>
            <a:gdLst/>
            <a:ahLst/>
            <a:cxnLst/>
            <a:rect r="r" b="b" t="t" l="l"/>
            <a:pathLst>
              <a:path h="1496303" w="11117531">
                <a:moveTo>
                  <a:pt x="0" y="0"/>
                </a:moveTo>
                <a:lnTo>
                  <a:pt x="11117531" y="0"/>
                </a:lnTo>
                <a:lnTo>
                  <a:pt x="11117531" y="1496303"/>
                </a:lnTo>
                <a:lnTo>
                  <a:pt x="0" y="1496303"/>
                </a:lnTo>
                <a:lnTo>
                  <a:pt x="0" y="0"/>
                </a:lnTo>
                <a:close/>
              </a:path>
            </a:pathLst>
          </a:custGeom>
          <a:blipFill>
            <a:blip r:embed="rId6"/>
            <a:stretch>
              <a:fillRect l="0" t="0" r="0" b="0"/>
            </a:stretch>
          </a:blipFill>
        </p:spPr>
      </p:sp>
      <p:sp>
        <p:nvSpPr>
          <p:cNvPr name="TextBox 13" id="13"/>
          <p:cNvSpPr txBox="true"/>
          <p:nvPr/>
        </p:nvSpPr>
        <p:spPr>
          <a:xfrm rot="0">
            <a:off x="3413827" y="1322515"/>
            <a:ext cx="11460346" cy="1120758"/>
          </a:xfrm>
          <a:prstGeom prst="rect">
            <a:avLst/>
          </a:prstGeom>
        </p:spPr>
        <p:txBody>
          <a:bodyPr anchor="t" rtlCol="false" tIns="0" lIns="0" bIns="0" rIns="0">
            <a:spAutoFit/>
          </a:bodyPr>
          <a:lstStyle/>
          <a:p>
            <a:pPr algn="ctr">
              <a:lnSpc>
                <a:spcPts val="9100"/>
              </a:lnSpc>
            </a:pPr>
            <a:r>
              <a:rPr lang="en-US" sz="6500" b="true">
                <a:solidFill>
                  <a:srgbClr val="000000"/>
                </a:solidFill>
                <a:latin typeface="Glacial Indifference Bold"/>
                <a:ea typeface="Glacial Indifference Bold"/>
                <a:cs typeface="Glacial Indifference Bold"/>
                <a:sym typeface="Glacial Indifference Bold"/>
              </a:rPr>
              <a:t>ANOVA</a:t>
            </a:r>
          </a:p>
        </p:txBody>
      </p:sp>
      <p:sp>
        <p:nvSpPr>
          <p:cNvPr name="TextBox 14" id="14"/>
          <p:cNvSpPr txBox="true"/>
          <p:nvPr/>
        </p:nvSpPr>
        <p:spPr>
          <a:xfrm rot="0">
            <a:off x="1405240" y="3213511"/>
            <a:ext cx="6012222" cy="580423"/>
          </a:xfrm>
          <a:prstGeom prst="rect">
            <a:avLst/>
          </a:prstGeom>
        </p:spPr>
        <p:txBody>
          <a:bodyPr anchor="t" rtlCol="false" tIns="0" lIns="0" bIns="0" rIns="0">
            <a:spAutoFit/>
          </a:bodyPr>
          <a:lstStyle/>
          <a:p>
            <a:pPr algn="l">
              <a:lnSpc>
                <a:spcPts val="4759"/>
              </a:lnSpc>
            </a:pPr>
            <a:r>
              <a:rPr lang="en-US" sz="3399" b="true">
                <a:solidFill>
                  <a:srgbClr val="000000"/>
                </a:solidFill>
                <a:latin typeface="Glacial Indifference Bold"/>
                <a:ea typeface="Glacial Indifference Bold"/>
                <a:cs typeface="Glacial Indifference Bold"/>
                <a:sym typeface="Glacial Indifference Bold"/>
              </a:rPr>
              <a:t>Faktor 3</a:t>
            </a:r>
          </a:p>
        </p:txBody>
      </p:sp>
      <p:sp>
        <p:nvSpPr>
          <p:cNvPr name="TextBox 15" id="15"/>
          <p:cNvSpPr txBox="true"/>
          <p:nvPr/>
        </p:nvSpPr>
        <p:spPr>
          <a:xfrm rot="0">
            <a:off x="1405240" y="6107896"/>
            <a:ext cx="15477521" cy="2223836"/>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Hal itu menunjukkan bahwa tekanan psikologis yang dialami mahasiswa dari kegiatan non-akademik berbeda secara signifikan di antara kelompok, misalnya mahasiswa yang lebih banyak terlibat dalam kegiatan non-akademik mungkin mengalami tekanan psikologis yang lebih besar.</a:t>
            </a:r>
          </a:p>
        </p:txBody>
      </p:sp>
      <p:grpSp>
        <p:nvGrpSpPr>
          <p:cNvPr name="Group 16" id="16"/>
          <p:cNvGrpSpPr/>
          <p:nvPr/>
        </p:nvGrpSpPr>
        <p:grpSpPr>
          <a:xfrm rot="0">
            <a:off x="728554" y="471103"/>
            <a:ext cx="4008304" cy="1427108"/>
            <a:chOff x="0" y="0"/>
            <a:chExt cx="5344405" cy="1902811"/>
          </a:xfrm>
        </p:grpSpPr>
        <p:sp>
          <p:nvSpPr>
            <p:cNvPr name="Freeform 17" id="17"/>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7"/>
              <a:stretch>
                <a:fillRect l="0" t="0" r="0" b="0"/>
              </a:stretch>
            </a:blipFill>
          </p:spPr>
        </p:sp>
        <p:sp>
          <p:nvSpPr>
            <p:cNvPr name="TextBox 18" id="18"/>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364232" y="-2136727"/>
            <a:ext cx="5790136" cy="5790136"/>
          </a:xfrm>
          <a:custGeom>
            <a:avLst/>
            <a:gdLst/>
            <a:ahLst/>
            <a:cxnLst/>
            <a:rect r="r" b="b" t="t" l="l"/>
            <a:pathLst>
              <a:path h="5790136" w="5790136">
                <a:moveTo>
                  <a:pt x="0" y="0"/>
                </a:moveTo>
                <a:lnTo>
                  <a:pt x="5790136" y="0"/>
                </a:lnTo>
                <a:lnTo>
                  <a:pt x="5790136" y="5790136"/>
                </a:lnTo>
                <a:lnTo>
                  <a:pt x="0" y="5790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0"/>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23</a:t>
            </a:r>
          </a:p>
        </p:txBody>
      </p:sp>
      <p:sp>
        <p:nvSpPr>
          <p:cNvPr name="AutoShape 10" id="10"/>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1" id="11"/>
          <p:cNvSpPr/>
          <p:nvPr/>
        </p:nvSpPr>
        <p:spPr>
          <a:xfrm flipH="false" flipV="false" rot="0">
            <a:off x="2599388" y="8297089"/>
            <a:ext cx="947230" cy="961211"/>
          </a:xfrm>
          <a:custGeom>
            <a:avLst/>
            <a:gdLst/>
            <a:ahLst/>
            <a:cxnLst/>
            <a:rect r="r" b="b" t="t" l="l"/>
            <a:pathLst>
              <a:path h="961211" w="947230">
                <a:moveTo>
                  <a:pt x="0" y="0"/>
                </a:moveTo>
                <a:lnTo>
                  <a:pt x="947230" y="0"/>
                </a:lnTo>
                <a:lnTo>
                  <a:pt x="947230" y="961211"/>
                </a:lnTo>
                <a:lnTo>
                  <a:pt x="0" y="961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05240" y="3776585"/>
            <a:ext cx="8438149" cy="3375260"/>
          </a:xfrm>
          <a:custGeom>
            <a:avLst/>
            <a:gdLst/>
            <a:ahLst/>
            <a:cxnLst/>
            <a:rect r="r" b="b" t="t" l="l"/>
            <a:pathLst>
              <a:path h="3375260" w="8438149">
                <a:moveTo>
                  <a:pt x="0" y="0"/>
                </a:moveTo>
                <a:lnTo>
                  <a:pt x="8438149" y="0"/>
                </a:lnTo>
                <a:lnTo>
                  <a:pt x="8438149" y="3375260"/>
                </a:lnTo>
                <a:lnTo>
                  <a:pt x="0" y="3375260"/>
                </a:lnTo>
                <a:lnTo>
                  <a:pt x="0" y="0"/>
                </a:lnTo>
                <a:close/>
              </a:path>
            </a:pathLst>
          </a:custGeom>
          <a:blipFill>
            <a:blip r:embed="rId6"/>
            <a:stretch>
              <a:fillRect l="0" t="0" r="0" b="0"/>
            </a:stretch>
          </a:blipFill>
        </p:spPr>
      </p:sp>
      <p:sp>
        <p:nvSpPr>
          <p:cNvPr name="TextBox 13" id="13"/>
          <p:cNvSpPr txBox="true"/>
          <p:nvPr/>
        </p:nvSpPr>
        <p:spPr>
          <a:xfrm rot="0">
            <a:off x="3413827" y="1322515"/>
            <a:ext cx="11460346" cy="1120758"/>
          </a:xfrm>
          <a:prstGeom prst="rect">
            <a:avLst/>
          </a:prstGeom>
        </p:spPr>
        <p:txBody>
          <a:bodyPr anchor="t" rtlCol="false" tIns="0" lIns="0" bIns="0" rIns="0">
            <a:spAutoFit/>
          </a:bodyPr>
          <a:lstStyle/>
          <a:p>
            <a:pPr algn="ctr">
              <a:lnSpc>
                <a:spcPts val="9100"/>
              </a:lnSpc>
            </a:pPr>
            <a:r>
              <a:rPr lang="en-US" sz="6500" b="true">
                <a:solidFill>
                  <a:srgbClr val="000000"/>
                </a:solidFill>
                <a:latin typeface="Glacial Indifference Bold"/>
                <a:ea typeface="Glacial Indifference Bold"/>
                <a:cs typeface="Glacial Indifference Bold"/>
                <a:sym typeface="Glacial Indifference Bold"/>
              </a:rPr>
              <a:t>Post-hoc Tukey’s HSD</a:t>
            </a:r>
          </a:p>
        </p:txBody>
      </p:sp>
      <p:sp>
        <p:nvSpPr>
          <p:cNvPr name="TextBox 14" id="14"/>
          <p:cNvSpPr txBox="true"/>
          <p:nvPr/>
        </p:nvSpPr>
        <p:spPr>
          <a:xfrm rot="0">
            <a:off x="1405240" y="2940445"/>
            <a:ext cx="6012222" cy="580423"/>
          </a:xfrm>
          <a:prstGeom prst="rect">
            <a:avLst/>
          </a:prstGeom>
        </p:spPr>
        <p:txBody>
          <a:bodyPr anchor="t" rtlCol="false" tIns="0" lIns="0" bIns="0" rIns="0">
            <a:spAutoFit/>
          </a:bodyPr>
          <a:lstStyle/>
          <a:p>
            <a:pPr algn="l">
              <a:lnSpc>
                <a:spcPts val="4759"/>
              </a:lnSpc>
            </a:pPr>
            <a:r>
              <a:rPr lang="en-US" sz="3399" b="true">
                <a:solidFill>
                  <a:srgbClr val="000000"/>
                </a:solidFill>
                <a:latin typeface="Glacial Indifference Bold"/>
                <a:ea typeface="Glacial Indifference Bold"/>
                <a:cs typeface="Glacial Indifference Bold"/>
                <a:sym typeface="Glacial Indifference Bold"/>
              </a:rPr>
              <a:t>Faktor 1</a:t>
            </a:r>
          </a:p>
        </p:txBody>
      </p:sp>
      <p:sp>
        <p:nvSpPr>
          <p:cNvPr name="TextBox 15" id="15"/>
          <p:cNvSpPr txBox="true"/>
          <p:nvPr/>
        </p:nvSpPr>
        <p:spPr>
          <a:xfrm rot="0">
            <a:off x="1405240" y="7415210"/>
            <a:ext cx="15477521" cy="1099853"/>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Tekanan akademik tinggi secara signifikan mengurangi kesehatan fisik dan psikologis mahasiswa.</a:t>
            </a:r>
          </a:p>
        </p:txBody>
      </p:sp>
      <p:grpSp>
        <p:nvGrpSpPr>
          <p:cNvPr name="Group 16" id="16"/>
          <p:cNvGrpSpPr/>
          <p:nvPr/>
        </p:nvGrpSpPr>
        <p:grpSpPr>
          <a:xfrm rot="0">
            <a:off x="728554" y="471103"/>
            <a:ext cx="4008304" cy="1427108"/>
            <a:chOff x="0" y="0"/>
            <a:chExt cx="5344405" cy="1902811"/>
          </a:xfrm>
        </p:grpSpPr>
        <p:sp>
          <p:nvSpPr>
            <p:cNvPr name="Freeform 17" id="17"/>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7"/>
              <a:stretch>
                <a:fillRect l="0" t="0" r="0" b="0"/>
              </a:stretch>
            </a:blipFill>
          </p:spPr>
        </p:sp>
        <p:sp>
          <p:nvSpPr>
            <p:cNvPr name="TextBox 18" id="18"/>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364232" y="-2136727"/>
            <a:ext cx="5790136" cy="5790136"/>
          </a:xfrm>
          <a:custGeom>
            <a:avLst/>
            <a:gdLst/>
            <a:ahLst/>
            <a:cxnLst/>
            <a:rect r="r" b="b" t="t" l="l"/>
            <a:pathLst>
              <a:path h="5790136" w="5790136">
                <a:moveTo>
                  <a:pt x="0" y="0"/>
                </a:moveTo>
                <a:lnTo>
                  <a:pt x="5790136" y="0"/>
                </a:lnTo>
                <a:lnTo>
                  <a:pt x="5790136" y="5790136"/>
                </a:lnTo>
                <a:lnTo>
                  <a:pt x="0" y="5790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0"/>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24</a:t>
            </a:r>
          </a:p>
        </p:txBody>
      </p:sp>
      <p:sp>
        <p:nvSpPr>
          <p:cNvPr name="AutoShape 10" id="10"/>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1" id="11"/>
          <p:cNvSpPr/>
          <p:nvPr/>
        </p:nvSpPr>
        <p:spPr>
          <a:xfrm flipH="false" flipV="false" rot="0">
            <a:off x="2599388" y="8297089"/>
            <a:ext cx="947230" cy="961211"/>
          </a:xfrm>
          <a:custGeom>
            <a:avLst/>
            <a:gdLst/>
            <a:ahLst/>
            <a:cxnLst/>
            <a:rect r="r" b="b" t="t" l="l"/>
            <a:pathLst>
              <a:path h="961211" w="947230">
                <a:moveTo>
                  <a:pt x="0" y="0"/>
                </a:moveTo>
                <a:lnTo>
                  <a:pt x="947230" y="0"/>
                </a:lnTo>
                <a:lnTo>
                  <a:pt x="947230" y="961211"/>
                </a:lnTo>
                <a:lnTo>
                  <a:pt x="0" y="961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05240" y="3886421"/>
            <a:ext cx="8853293" cy="3220385"/>
          </a:xfrm>
          <a:custGeom>
            <a:avLst/>
            <a:gdLst/>
            <a:ahLst/>
            <a:cxnLst/>
            <a:rect r="r" b="b" t="t" l="l"/>
            <a:pathLst>
              <a:path h="3220385" w="8853293">
                <a:moveTo>
                  <a:pt x="0" y="0"/>
                </a:moveTo>
                <a:lnTo>
                  <a:pt x="8853292" y="0"/>
                </a:lnTo>
                <a:lnTo>
                  <a:pt x="8853292" y="3220386"/>
                </a:lnTo>
                <a:lnTo>
                  <a:pt x="0" y="3220386"/>
                </a:lnTo>
                <a:lnTo>
                  <a:pt x="0" y="0"/>
                </a:lnTo>
                <a:close/>
              </a:path>
            </a:pathLst>
          </a:custGeom>
          <a:blipFill>
            <a:blip r:embed="rId6"/>
            <a:stretch>
              <a:fillRect l="0" t="0" r="0" b="0"/>
            </a:stretch>
          </a:blipFill>
        </p:spPr>
      </p:sp>
      <p:sp>
        <p:nvSpPr>
          <p:cNvPr name="TextBox 13" id="13"/>
          <p:cNvSpPr txBox="true"/>
          <p:nvPr/>
        </p:nvSpPr>
        <p:spPr>
          <a:xfrm rot="0">
            <a:off x="3413827" y="1322515"/>
            <a:ext cx="11460346" cy="1120758"/>
          </a:xfrm>
          <a:prstGeom prst="rect">
            <a:avLst/>
          </a:prstGeom>
        </p:spPr>
        <p:txBody>
          <a:bodyPr anchor="t" rtlCol="false" tIns="0" lIns="0" bIns="0" rIns="0">
            <a:spAutoFit/>
          </a:bodyPr>
          <a:lstStyle/>
          <a:p>
            <a:pPr algn="ctr">
              <a:lnSpc>
                <a:spcPts val="9100"/>
              </a:lnSpc>
            </a:pPr>
            <a:r>
              <a:rPr lang="en-US" sz="6500" b="true">
                <a:solidFill>
                  <a:srgbClr val="000000"/>
                </a:solidFill>
                <a:latin typeface="Glacial Indifference Bold"/>
                <a:ea typeface="Glacial Indifference Bold"/>
                <a:cs typeface="Glacial Indifference Bold"/>
                <a:sym typeface="Glacial Indifference Bold"/>
              </a:rPr>
              <a:t>Post-hoc Tukey’s HSD</a:t>
            </a:r>
          </a:p>
        </p:txBody>
      </p:sp>
      <p:sp>
        <p:nvSpPr>
          <p:cNvPr name="TextBox 14" id="14"/>
          <p:cNvSpPr txBox="true"/>
          <p:nvPr/>
        </p:nvSpPr>
        <p:spPr>
          <a:xfrm rot="0">
            <a:off x="1405240" y="2940445"/>
            <a:ext cx="6012222" cy="580423"/>
          </a:xfrm>
          <a:prstGeom prst="rect">
            <a:avLst/>
          </a:prstGeom>
        </p:spPr>
        <p:txBody>
          <a:bodyPr anchor="t" rtlCol="false" tIns="0" lIns="0" bIns="0" rIns="0">
            <a:spAutoFit/>
          </a:bodyPr>
          <a:lstStyle/>
          <a:p>
            <a:pPr algn="l">
              <a:lnSpc>
                <a:spcPts val="4759"/>
              </a:lnSpc>
            </a:pPr>
            <a:r>
              <a:rPr lang="en-US" sz="3399" b="true">
                <a:solidFill>
                  <a:srgbClr val="000000"/>
                </a:solidFill>
                <a:latin typeface="Glacial Indifference Bold"/>
                <a:ea typeface="Glacial Indifference Bold"/>
                <a:cs typeface="Glacial Indifference Bold"/>
                <a:sym typeface="Glacial Indifference Bold"/>
              </a:rPr>
              <a:t>Faktor 2</a:t>
            </a:r>
          </a:p>
        </p:txBody>
      </p:sp>
      <p:sp>
        <p:nvSpPr>
          <p:cNvPr name="TextBox 15" id="15"/>
          <p:cNvSpPr txBox="true"/>
          <p:nvPr/>
        </p:nvSpPr>
        <p:spPr>
          <a:xfrm rot="0">
            <a:off x="1405240" y="7415210"/>
            <a:ext cx="15477521" cy="1099853"/>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Mahasiswa dengan kemampuan menyeimbangkan kehidupan pribadi dan akademik yang baik memiliki pengalaman akademik yang lebih positif.</a:t>
            </a:r>
          </a:p>
        </p:txBody>
      </p:sp>
      <p:grpSp>
        <p:nvGrpSpPr>
          <p:cNvPr name="Group 16" id="16"/>
          <p:cNvGrpSpPr/>
          <p:nvPr/>
        </p:nvGrpSpPr>
        <p:grpSpPr>
          <a:xfrm rot="0">
            <a:off x="728554" y="471103"/>
            <a:ext cx="4008304" cy="1427108"/>
            <a:chOff x="0" y="0"/>
            <a:chExt cx="5344405" cy="1902811"/>
          </a:xfrm>
        </p:grpSpPr>
        <p:sp>
          <p:nvSpPr>
            <p:cNvPr name="Freeform 17" id="17"/>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7"/>
              <a:stretch>
                <a:fillRect l="0" t="0" r="0" b="0"/>
              </a:stretch>
            </a:blipFill>
          </p:spPr>
        </p:sp>
        <p:sp>
          <p:nvSpPr>
            <p:cNvPr name="TextBox 18" id="18"/>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73435"/>
            <a:ext cx="18288000" cy="213565"/>
            <a:chOff x="0" y="0"/>
            <a:chExt cx="4816593" cy="56248"/>
          </a:xfrm>
        </p:grpSpPr>
        <p:sp>
          <p:nvSpPr>
            <p:cNvPr name="Freeform 3" id="3"/>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4" id="4"/>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364232" y="-2136727"/>
            <a:ext cx="5790136" cy="5790136"/>
          </a:xfrm>
          <a:custGeom>
            <a:avLst/>
            <a:gdLst/>
            <a:ahLst/>
            <a:cxnLst/>
            <a:rect r="r" b="b" t="t" l="l"/>
            <a:pathLst>
              <a:path h="5790136" w="5790136">
                <a:moveTo>
                  <a:pt x="0" y="0"/>
                </a:moveTo>
                <a:lnTo>
                  <a:pt x="5790136" y="0"/>
                </a:lnTo>
                <a:lnTo>
                  <a:pt x="5790136" y="5790136"/>
                </a:lnTo>
                <a:lnTo>
                  <a:pt x="0" y="5790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0"/>
            <a:ext cx="18288000" cy="213565"/>
            <a:chOff x="0" y="0"/>
            <a:chExt cx="4816593" cy="56248"/>
          </a:xfrm>
        </p:grpSpPr>
        <p:sp>
          <p:nvSpPr>
            <p:cNvPr name="Freeform 7" id="7"/>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8" id="8"/>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25</a:t>
            </a:r>
          </a:p>
        </p:txBody>
      </p:sp>
      <p:sp>
        <p:nvSpPr>
          <p:cNvPr name="AutoShape 10" id="10"/>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1" id="11"/>
          <p:cNvSpPr/>
          <p:nvPr/>
        </p:nvSpPr>
        <p:spPr>
          <a:xfrm flipH="false" flipV="false" rot="0">
            <a:off x="2599388" y="8297089"/>
            <a:ext cx="947230" cy="961211"/>
          </a:xfrm>
          <a:custGeom>
            <a:avLst/>
            <a:gdLst/>
            <a:ahLst/>
            <a:cxnLst/>
            <a:rect r="r" b="b" t="t" l="l"/>
            <a:pathLst>
              <a:path h="961211" w="947230">
                <a:moveTo>
                  <a:pt x="0" y="0"/>
                </a:moveTo>
                <a:lnTo>
                  <a:pt x="947230" y="0"/>
                </a:lnTo>
                <a:lnTo>
                  <a:pt x="947230" y="961211"/>
                </a:lnTo>
                <a:lnTo>
                  <a:pt x="0" y="961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05240" y="3766815"/>
            <a:ext cx="11301259" cy="3206732"/>
          </a:xfrm>
          <a:custGeom>
            <a:avLst/>
            <a:gdLst/>
            <a:ahLst/>
            <a:cxnLst/>
            <a:rect r="r" b="b" t="t" l="l"/>
            <a:pathLst>
              <a:path h="3206732" w="11301259">
                <a:moveTo>
                  <a:pt x="0" y="0"/>
                </a:moveTo>
                <a:lnTo>
                  <a:pt x="11301259" y="0"/>
                </a:lnTo>
                <a:lnTo>
                  <a:pt x="11301259" y="3206732"/>
                </a:lnTo>
                <a:lnTo>
                  <a:pt x="0" y="3206732"/>
                </a:lnTo>
                <a:lnTo>
                  <a:pt x="0" y="0"/>
                </a:lnTo>
                <a:close/>
              </a:path>
            </a:pathLst>
          </a:custGeom>
          <a:blipFill>
            <a:blip r:embed="rId6"/>
            <a:stretch>
              <a:fillRect l="0" t="0" r="0" b="0"/>
            </a:stretch>
          </a:blipFill>
        </p:spPr>
      </p:sp>
      <p:sp>
        <p:nvSpPr>
          <p:cNvPr name="TextBox 13" id="13"/>
          <p:cNvSpPr txBox="true"/>
          <p:nvPr/>
        </p:nvSpPr>
        <p:spPr>
          <a:xfrm rot="0">
            <a:off x="3413827" y="1322515"/>
            <a:ext cx="11460346" cy="1120758"/>
          </a:xfrm>
          <a:prstGeom prst="rect">
            <a:avLst/>
          </a:prstGeom>
        </p:spPr>
        <p:txBody>
          <a:bodyPr anchor="t" rtlCol="false" tIns="0" lIns="0" bIns="0" rIns="0">
            <a:spAutoFit/>
          </a:bodyPr>
          <a:lstStyle/>
          <a:p>
            <a:pPr algn="ctr">
              <a:lnSpc>
                <a:spcPts val="9100"/>
              </a:lnSpc>
            </a:pPr>
            <a:r>
              <a:rPr lang="en-US" sz="6500" b="true">
                <a:solidFill>
                  <a:srgbClr val="000000"/>
                </a:solidFill>
                <a:latin typeface="Glacial Indifference Bold"/>
                <a:ea typeface="Glacial Indifference Bold"/>
                <a:cs typeface="Glacial Indifference Bold"/>
                <a:sym typeface="Glacial Indifference Bold"/>
              </a:rPr>
              <a:t>Post-hoc Tukey’s HSD</a:t>
            </a:r>
          </a:p>
        </p:txBody>
      </p:sp>
      <p:sp>
        <p:nvSpPr>
          <p:cNvPr name="TextBox 14" id="14"/>
          <p:cNvSpPr txBox="true"/>
          <p:nvPr/>
        </p:nvSpPr>
        <p:spPr>
          <a:xfrm rot="0">
            <a:off x="1405240" y="2940445"/>
            <a:ext cx="6012222" cy="580423"/>
          </a:xfrm>
          <a:prstGeom prst="rect">
            <a:avLst/>
          </a:prstGeom>
        </p:spPr>
        <p:txBody>
          <a:bodyPr anchor="t" rtlCol="false" tIns="0" lIns="0" bIns="0" rIns="0">
            <a:spAutoFit/>
          </a:bodyPr>
          <a:lstStyle/>
          <a:p>
            <a:pPr algn="l">
              <a:lnSpc>
                <a:spcPts val="4759"/>
              </a:lnSpc>
            </a:pPr>
            <a:r>
              <a:rPr lang="en-US" sz="3399" b="true">
                <a:solidFill>
                  <a:srgbClr val="000000"/>
                </a:solidFill>
                <a:latin typeface="Glacial Indifference Bold"/>
                <a:ea typeface="Glacial Indifference Bold"/>
                <a:cs typeface="Glacial Indifference Bold"/>
                <a:sym typeface="Glacial Indifference Bold"/>
              </a:rPr>
              <a:t>Faktor 3</a:t>
            </a:r>
          </a:p>
        </p:txBody>
      </p:sp>
      <p:sp>
        <p:nvSpPr>
          <p:cNvPr name="TextBox 15" id="15"/>
          <p:cNvSpPr txBox="true"/>
          <p:nvPr/>
        </p:nvSpPr>
        <p:spPr>
          <a:xfrm rot="0">
            <a:off x="1405240" y="7415210"/>
            <a:ext cx="15477521" cy="1099853"/>
          </a:xfrm>
          <a:prstGeom prst="rect">
            <a:avLst/>
          </a:prstGeom>
        </p:spPr>
        <p:txBody>
          <a:bodyPr anchor="t" rtlCol="false" tIns="0" lIns="0" bIns="0" rIns="0">
            <a:spAutoFit/>
          </a:bodyPr>
          <a:lstStyle/>
          <a:p>
            <a:pPr algn="just">
              <a:lnSpc>
                <a:spcPts val="4480"/>
              </a:lnSpc>
            </a:pPr>
            <a:r>
              <a:rPr lang="en-US" sz="3200">
                <a:solidFill>
                  <a:srgbClr val="000000"/>
                </a:solidFill>
                <a:latin typeface="Glacial Indifference"/>
                <a:ea typeface="Glacial Indifference"/>
                <a:cs typeface="Glacial Indifference"/>
                <a:sym typeface="Glacial Indifference"/>
              </a:rPr>
              <a:t>Mahasiswa yang lebih banyak terlibat dalam kegiatan non-akademik mengalami tekanan psikologis yang lebih besar.</a:t>
            </a:r>
          </a:p>
        </p:txBody>
      </p:sp>
      <p:grpSp>
        <p:nvGrpSpPr>
          <p:cNvPr name="Group 16" id="16"/>
          <p:cNvGrpSpPr/>
          <p:nvPr/>
        </p:nvGrpSpPr>
        <p:grpSpPr>
          <a:xfrm rot="0">
            <a:off x="728554" y="471103"/>
            <a:ext cx="4008304" cy="1427108"/>
            <a:chOff x="0" y="0"/>
            <a:chExt cx="5344405" cy="1902811"/>
          </a:xfrm>
        </p:grpSpPr>
        <p:sp>
          <p:nvSpPr>
            <p:cNvPr name="Freeform 17" id="17"/>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7"/>
              <a:stretch>
                <a:fillRect l="0" t="0" r="0" b="0"/>
              </a:stretch>
            </a:blipFill>
          </p:spPr>
        </p:sp>
        <p:sp>
          <p:nvSpPr>
            <p:cNvPr name="TextBox 18" id="18"/>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BFDDD2"/>
        </a:solidFill>
      </p:bgPr>
    </p:bg>
    <p:spTree>
      <p:nvGrpSpPr>
        <p:cNvPr id="1" name=""/>
        <p:cNvGrpSpPr/>
        <p:nvPr/>
      </p:nvGrpSpPr>
      <p:grpSpPr>
        <a:xfrm>
          <a:off x="0" y="0"/>
          <a:ext cx="0" cy="0"/>
          <a:chOff x="0" y="0"/>
          <a:chExt cx="0" cy="0"/>
        </a:xfrm>
      </p:grpSpPr>
      <p:sp>
        <p:nvSpPr>
          <p:cNvPr name="TextBox 2" id="2"/>
          <p:cNvSpPr txBox="true"/>
          <p:nvPr/>
        </p:nvSpPr>
        <p:spPr>
          <a:xfrm rot="0">
            <a:off x="2236675" y="2770483"/>
            <a:ext cx="6104024" cy="1295400"/>
          </a:xfrm>
          <a:prstGeom prst="rect">
            <a:avLst/>
          </a:prstGeom>
        </p:spPr>
        <p:txBody>
          <a:bodyPr anchor="t" rtlCol="false" tIns="0" lIns="0" bIns="0" rIns="0">
            <a:spAutoFit/>
          </a:bodyPr>
          <a:lstStyle/>
          <a:p>
            <a:pPr algn="l">
              <a:lnSpc>
                <a:spcPts val="10500"/>
              </a:lnSpc>
            </a:pPr>
            <a:r>
              <a:rPr lang="en-US" sz="7500" b="true">
                <a:solidFill>
                  <a:srgbClr val="000000"/>
                </a:solidFill>
                <a:latin typeface="Glacial Indifference Bold"/>
                <a:ea typeface="Glacial Indifference Bold"/>
                <a:cs typeface="Glacial Indifference Bold"/>
                <a:sym typeface="Glacial Indifference Bold"/>
              </a:rPr>
              <a:t>Saran</a:t>
            </a:r>
          </a:p>
        </p:txBody>
      </p:sp>
      <p:sp>
        <p:nvSpPr>
          <p:cNvPr name="Freeform 3" id="3"/>
          <p:cNvSpPr/>
          <p:nvPr/>
        </p:nvSpPr>
        <p:spPr>
          <a:xfrm flipH="false" flipV="false" rot="0">
            <a:off x="389196" y="7453479"/>
            <a:ext cx="4072345" cy="4066842"/>
          </a:xfrm>
          <a:custGeom>
            <a:avLst/>
            <a:gdLst/>
            <a:ahLst/>
            <a:cxnLst/>
            <a:rect r="r" b="b" t="t" l="l"/>
            <a:pathLst>
              <a:path h="4066842" w="4072345">
                <a:moveTo>
                  <a:pt x="0" y="0"/>
                </a:moveTo>
                <a:lnTo>
                  <a:pt x="4072345" y="0"/>
                </a:lnTo>
                <a:lnTo>
                  <a:pt x="4072345" y="4066842"/>
                </a:lnTo>
                <a:lnTo>
                  <a:pt x="0" y="40668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10073435"/>
            <a:ext cx="18288000" cy="213565"/>
            <a:chOff x="0" y="0"/>
            <a:chExt cx="4816593" cy="56248"/>
          </a:xfrm>
        </p:grpSpPr>
        <p:sp>
          <p:nvSpPr>
            <p:cNvPr name="Freeform 5" id="5"/>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6" id="6"/>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true" rot="0">
            <a:off x="14729434" y="-317609"/>
            <a:ext cx="4180831" cy="3386473"/>
          </a:xfrm>
          <a:custGeom>
            <a:avLst/>
            <a:gdLst/>
            <a:ahLst/>
            <a:cxnLst/>
            <a:rect r="r" b="b" t="t" l="l"/>
            <a:pathLst>
              <a:path h="3386473" w="4180831">
                <a:moveTo>
                  <a:pt x="0" y="3386473"/>
                </a:moveTo>
                <a:lnTo>
                  <a:pt x="4180831" y="3386473"/>
                </a:lnTo>
                <a:lnTo>
                  <a:pt x="4180831" y="0"/>
                </a:lnTo>
                <a:lnTo>
                  <a:pt x="0" y="0"/>
                </a:lnTo>
                <a:lnTo>
                  <a:pt x="0" y="3386473"/>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0" y="0"/>
            <a:ext cx="18288000" cy="213565"/>
            <a:chOff x="0" y="0"/>
            <a:chExt cx="4816593" cy="56248"/>
          </a:xfrm>
        </p:grpSpPr>
        <p:sp>
          <p:nvSpPr>
            <p:cNvPr name="Freeform 9" id="9"/>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10" id="10"/>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27</a:t>
            </a:r>
          </a:p>
        </p:txBody>
      </p:sp>
      <p:sp>
        <p:nvSpPr>
          <p:cNvPr name="AutoShape 12" id="12"/>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AutoShape 13" id="13"/>
          <p:cNvSpPr/>
          <p:nvPr/>
        </p:nvSpPr>
        <p:spPr>
          <a:xfrm flipV="true">
            <a:off x="8324030" y="2922817"/>
            <a:ext cx="0" cy="4198362"/>
          </a:xfrm>
          <a:prstGeom prst="line">
            <a:avLst/>
          </a:prstGeom>
          <a:ln cap="flat" w="66675">
            <a:solidFill>
              <a:srgbClr val="5DA295"/>
            </a:solidFill>
            <a:prstDash val="solid"/>
            <a:headEnd type="none" len="sm" w="sm"/>
            <a:tailEnd type="none" len="sm" w="sm"/>
          </a:ln>
        </p:spPr>
      </p:sp>
      <p:sp>
        <p:nvSpPr>
          <p:cNvPr name="Freeform 14" id="14"/>
          <p:cNvSpPr/>
          <p:nvPr/>
        </p:nvSpPr>
        <p:spPr>
          <a:xfrm flipH="false" flipV="false" rot="0">
            <a:off x="3679812" y="6770983"/>
            <a:ext cx="1072583" cy="1072583"/>
          </a:xfrm>
          <a:custGeom>
            <a:avLst/>
            <a:gdLst/>
            <a:ahLst/>
            <a:cxnLst/>
            <a:rect r="r" b="b" t="t" l="l"/>
            <a:pathLst>
              <a:path h="1072583" w="1072583">
                <a:moveTo>
                  <a:pt x="0" y="0"/>
                </a:moveTo>
                <a:lnTo>
                  <a:pt x="1072583" y="0"/>
                </a:lnTo>
                <a:lnTo>
                  <a:pt x="1072583" y="1072583"/>
                </a:lnTo>
                <a:lnTo>
                  <a:pt x="0" y="10725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8961631" y="2856208"/>
            <a:ext cx="8297669" cy="5380990"/>
          </a:xfrm>
          <a:prstGeom prst="rect">
            <a:avLst/>
          </a:prstGeom>
        </p:spPr>
        <p:txBody>
          <a:bodyPr anchor="t" rtlCol="false" tIns="0" lIns="0" bIns="0" rIns="0">
            <a:spAutoFit/>
          </a:bodyPr>
          <a:lstStyle/>
          <a:p>
            <a:pPr algn="l">
              <a:lnSpc>
                <a:spcPts val="4759"/>
              </a:lnSpc>
            </a:pPr>
            <a:r>
              <a:rPr lang="en-US" sz="3399">
                <a:solidFill>
                  <a:srgbClr val="000000"/>
                </a:solidFill>
                <a:latin typeface="Glacial Indifference"/>
                <a:ea typeface="Glacial Indifference"/>
                <a:cs typeface="Glacial Indifference"/>
                <a:sym typeface="Glacial Indifference"/>
              </a:rPr>
              <a:t>Sebaiknya, dilakukan beberapa intervensi yang ditargetkan untuk meningkatkan kesehatan fisik dan psikologis mahasiswa. Misalnya, mengurangi tekanan akademik dengan perbaikan program akademik, mengadakan program pelatihan manajemen waktu dan kesejahteraan, serta menyediakan dukungan psikologis dan layanan konseling.</a:t>
            </a:r>
          </a:p>
        </p:txBody>
      </p:sp>
      <p:sp>
        <p:nvSpPr>
          <p:cNvPr name="Freeform 16" id="16"/>
          <p:cNvSpPr/>
          <p:nvPr/>
        </p:nvSpPr>
        <p:spPr>
          <a:xfrm flipH="false" flipV="false" rot="0">
            <a:off x="14023509" y="649617"/>
            <a:ext cx="1792620" cy="1452022"/>
          </a:xfrm>
          <a:custGeom>
            <a:avLst/>
            <a:gdLst/>
            <a:ahLst/>
            <a:cxnLst/>
            <a:rect r="r" b="b" t="t" l="l"/>
            <a:pathLst>
              <a:path h="1452022" w="1792620">
                <a:moveTo>
                  <a:pt x="0" y="0"/>
                </a:moveTo>
                <a:lnTo>
                  <a:pt x="1792620" y="0"/>
                </a:lnTo>
                <a:lnTo>
                  <a:pt x="1792620" y="1452022"/>
                </a:lnTo>
                <a:lnTo>
                  <a:pt x="0" y="14520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7" id="17"/>
          <p:cNvGrpSpPr/>
          <p:nvPr/>
        </p:nvGrpSpPr>
        <p:grpSpPr>
          <a:xfrm rot="0">
            <a:off x="728554" y="471103"/>
            <a:ext cx="4008304" cy="1427108"/>
            <a:chOff x="0" y="0"/>
            <a:chExt cx="5344405" cy="1902811"/>
          </a:xfrm>
        </p:grpSpPr>
        <p:sp>
          <p:nvSpPr>
            <p:cNvPr name="Freeform 18" id="18"/>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0"/>
              <a:stretch>
                <a:fillRect l="0" t="0" r="0" b="0"/>
              </a:stretch>
            </a:blipFill>
          </p:spPr>
        </p:sp>
        <p:sp>
          <p:nvSpPr>
            <p:cNvPr name="TextBox 19" id="19"/>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BFDDD2"/>
        </a:solidFill>
      </p:bgPr>
    </p:bg>
    <p:spTree>
      <p:nvGrpSpPr>
        <p:cNvPr id="1" name=""/>
        <p:cNvGrpSpPr/>
        <p:nvPr/>
      </p:nvGrpSpPr>
      <p:grpSpPr>
        <a:xfrm>
          <a:off x="0" y="0"/>
          <a:ext cx="0" cy="0"/>
          <a:chOff x="0" y="0"/>
          <a:chExt cx="0" cy="0"/>
        </a:xfrm>
      </p:grpSpPr>
      <p:sp>
        <p:nvSpPr>
          <p:cNvPr name="Freeform 2" id="2"/>
          <p:cNvSpPr/>
          <p:nvPr/>
        </p:nvSpPr>
        <p:spPr>
          <a:xfrm flipH="false" flipV="false" rot="0">
            <a:off x="389196" y="7453479"/>
            <a:ext cx="4072345" cy="4066842"/>
          </a:xfrm>
          <a:custGeom>
            <a:avLst/>
            <a:gdLst/>
            <a:ahLst/>
            <a:cxnLst/>
            <a:rect r="r" b="b" t="t" l="l"/>
            <a:pathLst>
              <a:path h="4066842" w="4072345">
                <a:moveTo>
                  <a:pt x="0" y="0"/>
                </a:moveTo>
                <a:lnTo>
                  <a:pt x="4072345" y="0"/>
                </a:lnTo>
                <a:lnTo>
                  <a:pt x="4072345" y="4066842"/>
                </a:lnTo>
                <a:lnTo>
                  <a:pt x="0" y="40668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0073435"/>
            <a:ext cx="18288000" cy="213565"/>
            <a:chOff x="0" y="0"/>
            <a:chExt cx="4816593" cy="56248"/>
          </a:xfrm>
        </p:grpSpPr>
        <p:sp>
          <p:nvSpPr>
            <p:cNvPr name="Freeform 4" id="4"/>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5" id="5"/>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true" rot="0">
            <a:off x="14729434" y="-317609"/>
            <a:ext cx="4180831" cy="3386473"/>
          </a:xfrm>
          <a:custGeom>
            <a:avLst/>
            <a:gdLst/>
            <a:ahLst/>
            <a:cxnLst/>
            <a:rect r="r" b="b" t="t" l="l"/>
            <a:pathLst>
              <a:path h="3386473" w="4180831">
                <a:moveTo>
                  <a:pt x="0" y="3386473"/>
                </a:moveTo>
                <a:lnTo>
                  <a:pt x="4180831" y="3386473"/>
                </a:lnTo>
                <a:lnTo>
                  <a:pt x="4180831" y="0"/>
                </a:lnTo>
                <a:lnTo>
                  <a:pt x="0" y="0"/>
                </a:lnTo>
                <a:lnTo>
                  <a:pt x="0" y="3386473"/>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0" y="0"/>
            <a:ext cx="18288000" cy="213565"/>
            <a:chOff x="0" y="0"/>
            <a:chExt cx="4816593" cy="56248"/>
          </a:xfrm>
        </p:grpSpPr>
        <p:sp>
          <p:nvSpPr>
            <p:cNvPr name="Freeform 8" id="8"/>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9" id="9"/>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27</a:t>
            </a:r>
          </a:p>
        </p:txBody>
      </p:sp>
      <p:sp>
        <p:nvSpPr>
          <p:cNvPr name="AutoShape 11" id="11"/>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Freeform 12" id="12"/>
          <p:cNvSpPr/>
          <p:nvPr/>
        </p:nvSpPr>
        <p:spPr>
          <a:xfrm flipH="false" flipV="false" rot="0">
            <a:off x="3679812" y="6770983"/>
            <a:ext cx="1072583" cy="1072583"/>
          </a:xfrm>
          <a:custGeom>
            <a:avLst/>
            <a:gdLst/>
            <a:ahLst/>
            <a:cxnLst/>
            <a:rect r="r" b="b" t="t" l="l"/>
            <a:pathLst>
              <a:path h="1072583" w="1072583">
                <a:moveTo>
                  <a:pt x="0" y="0"/>
                </a:moveTo>
                <a:lnTo>
                  <a:pt x="1072583" y="0"/>
                </a:lnTo>
                <a:lnTo>
                  <a:pt x="1072583" y="1072583"/>
                </a:lnTo>
                <a:lnTo>
                  <a:pt x="0" y="10725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4023509" y="649617"/>
            <a:ext cx="1792620" cy="1452022"/>
          </a:xfrm>
          <a:custGeom>
            <a:avLst/>
            <a:gdLst/>
            <a:ahLst/>
            <a:cxnLst/>
            <a:rect r="r" b="b" t="t" l="l"/>
            <a:pathLst>
              <a:path h="1452022" w="1792620">
                <a:moveTo>
                  <a:pt x="0" y="0"/>
                </a:moveTo>
                <a:lnTo>
                  <a:pt x="1792620" y="0"/>
                </a:lnTo>
                <a:lnTo>
                  <a:pt x="1792620" y="1452022"/>
                </a:lnTo>
                <a:lnTo>
                  <a:pt x="0" y="14520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2492388" y="1991414"/>
            <a:ext cx="13303223" cy="7266886"/>
          </a:xfrm>
          <a:custGeom>
            <a:avLst/>
            <a:gdLst/>
            <a:ahLst/>
            <a:cxnLst/>
            <a:rect r="r" b="b" t="t" l="l"/>
            <a:pathLst>
              <a:path h="7266886" w="13303223">
                <a:moveTo>
                  <a:pt x="0" y="0"/>
                </a:moveTo>
                <a:lnTo>
                  <a:pt x="13303224" y="0"/>
                </a:lnTo>
                <a:lnTo>
                  <a:pt x="13303224" y="7266886"/>
                </a:lnTo>
                <a:lnTo>
                  <a:pt x="0" y="7266886"/>
                </a:lnTo>
                <a:lnTo>
                  <a:pt x="0" y="0"/>
                </a:lnTo>
                <a:close/>
              </a:path>
            </a:pathLst>
          </a:custGeom>
          <a:blipFill>
            <a:blip r:embed="rId10"/>
            <a:stretch>
              <a:fillRect l="0" t="0" r="0" b="0"/>
            </a:stretch>
          </a:blipFill>
        </p:spPr>
      </p:sp>
      <p:sp>
        <p:nvSpPr>
          <p:cNvPr name="TextBox 15" id="15"/>
          <p:cNvSpPr txBox="true"/>
          <p:nvPr/>
        </p:nvSpPr>
        <p:spPr>
          <a:xfrm rot="0">
            <a:off x="6709563" y="497217"/>
            <a:ext cx="4868874" cy="1295400"/>
          </a:xfrm>
          <a:prstGeom prst="rect">
            <a:avLst/>
          </a:prstGeom>
        </p:spPr>
        <p:txBody>
          <a:bodyPr anchor="t" rtlCol="false" tIns="0" lIns="0" bIns="0" rIns="0">
            <a:spAutoFit/>
          </a:bodyPr>
          <a:lstStyle/>
          <a:p>
            <a:pPr algn="l">
              <a:lnSpc>
                <a:spcPts val="10500"/>
              </a:lnSpc>
            </a:pPr>
            <a:r>
              <a:rPr lang="en-US" sz="7500" b="true">
                <a:solidFill>
                  <a:srgbClr val="000000"/>
                </a:solidFill>
                <a:latin typeface="Glacial Indifference Bold"/>
                <a:ea typeface="Glacial Indifference Bold"/>
                <a:cs typeface="Glacial Indifference Bold"/>
                <a:sym typeface="Glacial Indifference Bold"/>
              </a:rPr>
              <a:t>Dashboard</a:t>
            </a:r>
          </a:p>
        </p:txBody>
      </p:sp>
      <p:grpSp>
        <p:nvGrpSpPr>
          <p:cNvPr name="Group 16" id="16"/>
          <p:cNvGrpSpPr/>
          <p:nvPr/>
        </p:nvGrpSpPr>
        <p:grpSpPr>
          <a:xfrm rot="0">
            <a:off x="728554" y="471103"/>
            <a:ext cx="4008304" cy="1427108"/>
            <a:chOff x="0" y="0"/>
            <a:chExt cx="5344405" cy="1902811"/>
          </a:xfrm>
        </p:grpSpPr>
        <p:sp>
          <p:nvSpPr>
            <p:cNvPr name="Freeform 17" id="17"/>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1"/>
              <a:stretch>
                <a:fillRect l="0" t="0" r="0" b="0"/>
              </a:stretch>
            </a:blipFill>
          </p:spPr>
        </p:sp>
        <p:sp>
          <p:nvSpPr>
            <p:cNvPr name="TextBox 18" id="18"/>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247856" y="1873356"/>
            <a:ext cx="5384322" cy="3425825"/>
          </a:xfrm>
          <a:prstGeom prst="rect">
            <a:avLst/>
          </a:prstGeom>
        </p:spPr>
        <p:txBody>
          <a:bodyPr anchor="t" rtlCol="false" tIns="0" lIns="0" bIns="0" rIns="0">
            <a:spAutoFit/>
          </a:bodyPr>
          <a:lstStyle/>
          <a:p>
            <a:pPr algn="l">
              <a:lnSpc>
                <a:spcPts val="9100"/>
              </a:lnSpc>
            </a:pPr>
            <a:r>
              <a:rPr lang="en-US" sz="6500" b="true">
                <a:solidFill>
                  <a:srgbClr val="000000"/>
                </a:solidFill>
                <a:latin typeface="Glacial Indifference Bold"/>
                <a:ea typeface="Glacial Indifference Bold"/>
                <a:cs typeface="Glacial Indifference Bold"/>
                <a:sym typeface="Glacial Indifference Bold"/>
              </a:rPr>
              <a:t>Referensi</a:t>
            </a:r>
          </a:p>
          <a:p>
            <a:pPr algn="l">
              <a:lnSpc>
                <a:spcPts val="9100"/>
              </a:lnSpc>
            </a:pPr>
            <a:r>
              <a:rPr lang="en-US" sz="6500" b="true">
                <a:solidFill>
                  <a:srgbClr val="000000"/>
                </a:solidFill>
                <a:latin typeface="Glacial Indifference Bold"/>
                <a:ea typeface="Glacial Indifference Bold"/>
                <a:cs typeface="Glacial Indifference Bold"/>
                <a:sym typeface="Glacial Indifference Bold"/>
              </a:rPr>
              <a:t>Sumber</a:t>
            </a:r>
          </a:p>
          <a:p>
            <a:pPr algn="l">
              <a:lnSpc>
                <a:spcPts val="9100"/>
              </a:lnSpc>
            </a:pPr>
            <a:r>
              <a:rPr lang="en-US" sz="6500" b="true">
                <a:solidFill>
                  <a:srgbClr val="000000"/>
                </a:solidFill>
                <a:latin typeface="Glacial Indifference Bold"/>
                <a:ea typeface="Glacial Indifference Bold"/>
                <a:cs typeface="Glacial Indifference Bold"/>
                <a:sym typeface="Glacial Indifference Bold"/>
              </a:rPr>
              <a:t>Penelitian</a:t>
            </a:r>
          </a:p>
        </p:txBody>
      </p:sp>
      <p:sp>
        <p:nvSpPr>
          <p:cNvPr name="Freeform 3" id="3"/>
          <p:cNvSpPr/>
          <p:nvPr/>
        </p:nvSpPr>
        <p:spPr>
          <a:xfrm flipH="false" flipV="false" rot="0">
            <a:off x="-325912" y="6736891"/>
            <a:ext cx="4384217" cy="3551216"/>
          </a:xfrm>
          <a:custGeom>
            <a:avLst/>
            <a:gdLst/>
            <a:ahLst/>
            <a:cxnLst/>
            <a:rect r="r" b="b" t="t" l="l"/>
            <a:pathLst>
              <a:path h="3551216" w="4384217">
                <a:moveTo>
                  <a:pt x="0" y="0"/>
                </a:moveTo>
                <a:lnTo>
                  <a:pt x="4384216" y="0"/>
                </a:lnTo>
                <a:lnTo>
                  <a:pt x="4384216" y="3551216"/>
                </a:lnTo>
                <a:lnTo>
                  <a:pt x="0" y="35512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10073435"/>
            <a:ext cx="18288000" cy="213565"/>
            <a:chOff x="0" y="0"/>
            <a:chExt cx="4816593" cy="56248"/>
          </a:xfrm>
        </p:grpSpPr>
        <p:sp>
          <p:nvSpPr>
            <p:cNvPr name="Freeform 5" id="5"/>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5DA295"/>
            </a:solidFill>
          </p:spPr>
        </p:sp>
        <p:sp>
          <p:nvSpPr>
            <p:cNvPr name="TextBox 6" id="6"/>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0"/>
            <a:ext cx="18288000" cy="213565"/>
            <a:chOff x="0" y="0"/>
            <a:chExt cx="4816593" cy="56248"/>
          </a:xfrm>
        </p:grpSpPr>
        <p:sp>
          <p:nvSpPr>
            <p:cNvPr name="Freeform 8" id="8"/>
            <p:cNvSpPr/>
            <p:nvPr/>
          </p:nvSpPr>
          <p:spPr>
            <a:xfrm flipH="false" flipV="false" rot="0">
              <a:off x="0" y="0"/>
              <a:ext cx="4816592" cy="56248"/>
            </a:xfrm>
            <a:custGeom>
              <a:avLst/>
              <a:gdLst/>
              <a:ahLst/>
              <a:cxnLst/>
              <a:rect r="r" b="b" t="t" l="l"/>
              <a:pathLst>
                <a:path h="56248" w="4816592">
                  <a:moveTo>
                    <a:pt x="0" y="0"/>
                  </a:moveTo>
                  <a:lnTo>
                    <a:pt x="4816592" y="0"/>
                  </a:lnTo>
                  <a:lnTo>
                    <a:pt x="4816592" y="56248"/>
                  </a:lnTo>
                  <a:lnTo>
                    <a:pt x="0" y="56248"/>
                  </a:lnTo>
                  <a:close/>
                </a:path>
              </a:pathLst>
            </a:custGeom>
            <a:solidFill>
              <a:srgbClr val="BFDDD2"/>
            </a:solidFill>
          </p:spPr>
        </p:sp>
        <p:sp>
          <p:nvSpPr>
            <p:cNvPr name="TextBox 9" id="9"/>
            <p:cNvSpPr txBox="true"/>
            <p:nvPr/>
          </p:nvSpPr>
          <p:spPr>
            <a:xfrm>
              <a:off x="0" y="-38100"/>
              <a:ext cx="4816593" cy="9434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6564000" y="8834437"/>
            <a:ext cx="955170" cy="762001"/>
          </a:xfrm>
          <a:prstGeom prst="rect">
            <a:avLst/>
          </a:prstGeom>
        </p:spPr>
        <p:txBody>
          <a:bodyPr anchor="t" rtlCol="false" tIns="0" lIns="0" bIns="0" rIns="0">
            <a:spAutoFit/>
          </a:bodyPr>
          <a:lstStyle/>
          <a:p>
            <a:pPr algn="r">
              <a:lnSpc>
                <a:spcPts val="6299"/>
              </a:lnSpc>
            </a:pPr>
            <a:r>
              <a:rPr lang="en-US" b="true" sz="4499">
                <a:solidFill>
                  <a:srgbClr val="000000"/>
                </a:solidFill>
                <a:latin typeface="Glacial Indifference Bold"/>
                <a:ea typeface="Glacial Indifference Bold"/>
                <a:cs typeface="Glacial Indifference Bold"/>
                <a:sym typeface="Glacial Indifference Bold"/>
              </a:rPr>
              <a:t>14</a:t>
            </a:r>
          </a:p>
        </p:txBody>
      </p:sp>
      <p:sp>
        <p:nvSpPr>
          <p:cNvPr name="AutoShape 11" id="11"/>
          <p:cNvSpPr/>
          <p:nvPr/>
        </p:nvSpPr>
        <p:spPr>
          <a:xfrm>
            <a:off x="16564000" y="8877554"/>
            <a:ext cx="0" cy="761492"/>
          </a:xfrm>
          <a:prstGeom prst="line">
            <a:avLst/>
          </a:prstGeom>
          <a:ln cap="flat" w="95250">
            <a:solidFill>
              <a:srgbClr val="5DA295"/>
            </a:solidFill>
            <a:prstDash val="solid"/>
            <a:headEnd type="none" len="sm" w="sm"/>
            <a:tailEnd type="none" len="sm" w="sm"/>
          </a:ln>
        </p:spPr>
      </p:sp>
      <p:sp>
        <p:nvSpPr>
          <p:cNvPr name="AutoShape 12" id="12"/>
          <p:cNvSpPr/>
          <p:nvPr/>
        </p:nvSpPr>
        <p:spPr>
          <a:xfrm flipV="true">
            <a:off x="8598840" y="1828349"/>
            <a:ext cx="0" cy="6630302"/>
          </a:xfrm>
          <a:prstGeom prst="line">
            <a:avLst/>
          </a:prstGeom>
          <a:ln cap="flat" w="66675">
            <a:solidFill>
              <a:srgbClr val="5DA295"/>
            </a:solidFill>
            <a:prstDash val="solid"/>
            <a:headEnd type="none" len="sm" w="sm"/>
            <a:tailEnd type="none" len="sm" w="sm"/>
          </a:ln>
        </p:spPr>
      </p:sp>
      <p:sp>
        <p:nvSpPr>
          <p:cNvPr name="Freeform 13" id="13"/>
          <p:cNvSpPr/>
          <p:nvPr/>
        </p:nvSpPr>
        <p:spPr>
          <a:xfrm flipH="false" flipV="false" rot="0">
            <a:off x="16611625" y="599086"/>
            <a:ext cx="1206502" cy="1206502"/>
          </a:xfrm>
          <a:custGeom>
            <a:avLst/>
            <a:gdLst/>
            <a:ahLst/>
            <a:cxnLst/>
            <a:rect r="r" b="b" t="t" l="l"/>
            <a:pathLst>
              <a:path h="1206502" w="1206502">
                <a:moveTo>
                  <a:pt x="0" y="0"/>
                </a:moveTo>
                <a:lnTo>
                  <a:pt x="1206501" y="0"/>
                </a:lnTo>
                <a:lnTo>
                  <a:pt x="1206501" y="1206502"/>
                </a:lnTo>
                <a:lnTo>
                  <a:pt x="0" y="12065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2414780" y="7736953"/>
            <a:ext cx="1140601" cy="1140601"/>
          </a:xfrm>
          <a:custGeom>
            <a:avLst/>
            <a:gdLst/>
            <a:ahLst/>
            <a:cxnLst/>
            <a:rect r="r" b="b" t="t" l="l"/>
            <a:pathLst>
              <a:path h="1140601" w="1140601">
                <a:moveTo>
                  <a:pt x="0" y="0"/>
                </a:moveTo>
                <a:lnTo>
                  <a:pt x="1140601" y="0"/>
                </a:lnTo>
                <a:lnTo>
                  <a:pt x="1140601" y="1140601"/>
                </a:lnTo>
                <a:lnTo>
                  <a:pt x="0" y="11406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3327105" y="7258226"/>
            <a:ext cx="456551" cy="456551"/>
          </a:xfrm>
          <a:custGeom>
            <a:avLst/>
            <a:gdLst/>
            <a:ahLst/>
            <a:cxnLst/>
            <a:rect r="r" b="b" t="t" l="l"/>
            <a:pathLst>
              <a:path h="456551" w="456551">
                <a:moveTo>
                  <a:pt x="0" y="0"/>
                </a:moveTo>
                <a:lnTo>
                  <a:pt x="456551" y="0"/>
                </a:lnTo>
                <a:lnTo>
                  <a:pt x="456551" y="456551"/>
                </a:lnTo>
                <a:lnTo>
                  <a:pt x="0" y="4565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9223506" y="1959081"/>
            <a:ext cx="7340494" cy="1298526"/>
          </a:xfrm>
          <a:prstGeom prst="rect">
            <a:avLst/>
          </a:prstGeom>
        </p:spPr>
        <p:txBody>
          <a:bodyPr anchor="t" rtlCol="false" tIns="0" lIns="0" bIns="0" rIns="0">
            <a:spAutoFit/>
          </a:bodyPr>
          <a:lstStyle/>
          <a:p>
            <a:pPr algn="l">
              <a:lnSpc>
                <a:spcPts val="3499"/>
              </a:lnSpc>
            </a:pPr>
            <a:r>
              <a:rPr lang="en-US" sz="2499">
                <a:solidFill>
                  <a:srgbClr val="000000"/>
                </a:solidFill>
                <a:latin typeface="Glacial Indifference"/>
                <a:ea typeface="Glacial Indifference"/>
                <a:cs typeface="Glacial Indifference"/>
                <a:sym typeface="Glacial Indifference"/>
              </a:rPr>
              <a:t>Fajar, D. M., Khosyi, M. P., &amp; Safira, R. (2023). Pengaruh banyaknya tugas terhadap kesehatan mahasiswa ITERA. Institut Teknologi Sumatera.</a:t>
            </a:r>
          </a:p>
        </p:txBody>
      </p:sp>
      <p:sp>
        <p:nvSpPr>
          <p:cNvPr name="TextBox 17" id="17"/>
          <p:cNvSpPr txBox="true"/>
          <p:nvPr/>
        </p:nvSpPr>
        <p:spPr>
          <a:xfrm rot="0">
            <a:off x="9271131" y="3943516"/>
            <a:ext cx="7340494" cy="1736659"/>
          </a:xfrm>
          <a:prstGeom prst="rect">
            <a:avLst/>
          </a:prstGeom>
        </p:spPr>
        <p:txBody>
          <a:bodyPr anchor="t" rtlCol="false" tIns="0" lIns="0" bIns="0" rIns="0">
            <a:spAutoFit/>
          </a:bodyPr>
          <a:lstStyle/>
          <a:p>
            <a:pPr algn="l">
              <a:lnSpc>
                <a:spcPts val="3499"/>
              </a:lnSpc>
            </a:pPr>
            <a:r>
              <a:rPr lang="en-US" sz="2499">
                <a:solidFill>
                  <a:srgbClr val="000000"/>
                </a:solidFill>
                <a:latin typeface="Glacial Indifference"/>
                <a:ea typeface="Glacial Indifference"/>
                <a:cs typeface="Glacial Indifference"/>
                <a:sym typeface="Glacial Indifference"/>
              </a:rPr>
              <a:t>Vierdiana, D. (2024). Analisis faktor-faktor yang mempengaruhi kesehatan mental di kalangan mahasiswa perguruan tinggi. Jurnal Review Pendidikan dan Pengajaran, 7(1), 1553-1562.</a:t>
            </a:r>
          </a:p>
        </p:txBody>
      </p:sp>
      <p:sp>
        <p:nvSpPr>
          <p:cNvPr name="TextBox 18" id="18"/>
          <p:cNvSpPr txBox="true"/>
          <p:nvPr/>
        </p:nvSpPr>
        <p:spPr>
          <a:xfrm rot="0">
            <a:off x="9223506" y="6366084"/>
            <a:ext cx="6546469" cy="1736659"/>
          </a:xfrm>
          <a:prstGeom prst="rect">
            <a:avLst/>
          </a:prstGeom>
        </p:spPr>
        <p:txBody>
          <a:bodyPr anchor="t" rtlCol="false" tIns="0" lIns="0" bIns="0" rIns="0">
            <a:spAutoFit/>
          </a:bodyPr>
          <a:lstStyle/>
          <a:p>
            <a:pPr algn="l">
              <a:lnSpc>
                <a:spcPts val="3499"/>
              </a:lnSpc>
            </a:pPr>
            <a:r>
              <a:rPr lang="en-US" sz="2499">
                <a:solidFill>
                  <a:srgbClr val="000000"/>
                </a:solidFill>
                <a:latin typeface="Glacial Indifference"/>
                <a:ea typeface="Glacial Indifference"/>
                <a:cs typeface="Glacial Indifference"/>
                <a:sym typeface="Glacial Indifference"/>
              </a:rPr>
              <a:t>Rahayu, A. (2022). Stratified Random Sampling. BINUS University. Diakses dari </a:t>
            </a:r>
            <a:r>
              <a:rPr lang="en-US" sz="2499" u="sng">
                <a:solidFill>
                  <a:srgbClr val="000000"/>
                </a:solidFill>
                <a:latin typeface="Glacial Indifference"/>
                <a:ea typeface="Glacial Indifference"/>
                <a:cs typeface="Glacial Indifference"/>
                <a:sym typeface="Glacial Indifference"/>
                <a:hlinkClick r:id="rId10" tooltip="https://binus.ac.id/malang/2022/09/stratified-random-sampling/"/>
              </a:rPr>
              <a:t>https://binus.ac.id/malang/2022/09/stratified-random-sampling/</a:t>
            </a:r>
          </a:p>
        </p:txBody>
      </p:sp>
      <p:grpSp>
        <p:nvGrpSpPr>
          <p:cNvPr name="Group 19" id="19"/>
          <p:cNvGrpSpPr/>
          <p:nvPr/>
        </p:nvGrpSpPr>
        <p:grpSpPr>
          <a:xfrm rot="0">
            <a:off x="728554" y="471103"/>
            <a:ext cx="4008304" cy="1427108"/>
            <a:chOff x="0" y="0"/>
            <a:chExt cx="5344405" cy="1902811"/>
          </a:xfrm>
        </p:grpSpPr>
        <p:sp>
          <p:nvSpPr>
            <p:cNvPr name="Freeform 20" id="20"/>
            <p:cNvSpPr/>
            <p:nvPr/>
          </p:nvSpPr>
          <p:spPr>
            <a:xfrm flipH="false" flipV="false" rot="0">
              <a:off x="0" y="0"/>
              <a:ext cx="1999998" cy="1902811"/>
            </a:xfrm>
            <a:custGeom>
              <a:avLst/>
              <a:gdLst/>
              <a:ahLst/>
              <a:cxnLst/>
              <a:rect r="r" b="b" t="t" l="l"/>
              <a:pathLst>
                <a:path h="1902811" w="1999998">
                  <a:moveTo>
                    <a:pt x="0" y="0"/>
                  </a:moveTo>
                  <a:lnTo>
                    <a:pt x="1999998" y="0"/>
                  </a:lnTo>
                  <a:lnTo>
                    <a:pt x="1999998" y="1902811"/>
                  </a:lnTo>
                  <a:lnTo>
                    <a:pt x="0" y="1902811"/>
                  </a:lnTo>
                  <a:lnTo>
                    <a:pt x="0" y="0"/>
                  </a:lnTo>
                  <a:close/>
                </a:path>
              </a:pathLst>
            </a:custGeom>
            <a:blipFill>
              <a:blip r:embed="rId11"/>
              <a:stretch>
                <a:fillRect l="0" t="0" r="0" b="0"/>
              </a:stretch>
            </a:blipFill>
          </p:spPr>
        </p:sp>
        <p:sp>
          <p:nvSpPr>
            <p:cNvPr name="TextBox 21" id="21"/>
            <p:cNvSpPr txBox="true"/>
            <p:nvPr/>
          </p:nvSpPr>
          <p:spPr>
            <a:xfrm rot="0">
              <a:off x="1944639" y="666045"/>
              <a:ext cx="3399766" cy="570720"/>
            </a:xfrm>
            <a:prstGeom prst="rect">
              <a:avLst/>
            </a:prstGeom>
          </p:spPr>
          <p:txBody>
            <a:bodyPr anchor="t" rtlCol="false" tIns="0" lIns="0" bIns="0" rIns="0">
              <a:spAutoFit/>
            </a:bodyPr>
            <a:lstStyle/>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POLITEKNIK ELEKTRONIKA</a:t>
              </a:r>
            </a:p>
            <a:p>
              <a:pPr algn="ctr">
                <a:lnSpc>
                  <a:spcPts val="1694"/>
                </a:lnSpc>
              </a:pPr>
              <a:r>
                <a:rPr lang="en-US" b="true" sz="1412" spc="70">
                  <a:solidFill>
                    <a:srgbClr val="000000"/>
                  </a:solidFill>
                  <a:latin typeface="Glacial Indifference Bold"/>
                  <a:ea typeface="Glacial Indifference Bold"/>
                  <a:cs typeface="Glacial Indifference Bold"/>
                  <a:sym typeface="Glacial Indifference Bold"/>
                </a:rPr>
                <a:t>NEGERI SURABAYA</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BFDDD2"/>
        </a:solidFill>
      </p:bgPr>
    </p:bg>
    <p:spTree>
      <p:nvGrpSpPr>
        <p:cNvPr id="1" name=""/>
        <p:cNvGrpSpPr/>
        <p:nvPr/>
      </p:nvGrpSpPr>
      <p:grpSpPr>
        <a:xfrm>
          <a:off x="0" y="0"/>
          <a:ext cx="0" cy="0"/>
          <a:chOff x="0" y="0"/>
          <a:chExt cx="0" cy="0"/>
        </a:xfrm>
      </p:grpSpPr>
      <p:grpSp>
        <p:nvGrpSpPr>
          <p:cNvPr name="Group 2" id="2"/>
          <p:cNvGrpSpPr/>
          <p:nvPr/>
        </p:nvGrpSpPr>
        <p:grpSpPr>
          <a:xfrm rot="0">
            <a:off x="1785341" y="1679079"/>
            <a:ext cx="14717318" cy="6928841"/>
            <a:chOff x="0" y="0"/>
            <a:chExt cx="3876166" cy="1824880"/>
          </a:xfrm>
        </p:grpSpPr>
        <p:sp>
          <p:nvSpPr>
            <p:cNvPr name="Freeform 3" id="3"/>
            <p:cNvSpPr/>
            <p:nvPr/>
          </p:nvSpPr>
          <p:spPr>
            <a:xfrm flipH="false" flipV="false" rot="0">
              <a:off x="0" y="0"/>
              <a:ext cx="3876166" cy="1824880"/>
            </a:xfrm>
            <a:custGeom>
              <a:avLst/>
              <a:gdLst/>
              <a:ahLst/>
              <a:cxnLst/>
              <a:rect r="r" b="b" t="t" l="l"/>
              <a:pathLst>
                <a:path h="1824880" w="3876166">
                  <a:moveTo>
                    <a:pt x="0" y="0"/>
                  </a:moveTo>
                  <a:lnTo>
                    <a:pt x="3876166" y="0"/>
                  </a:lnTo>
                  <a:lnTo>
                    <a:pt x="3876166" y="1824880"/>
                  </a:lnTo>
                  <a:lnTo>
                    <a:pt x="0" y="1824880"/>
                  </a:lnTo>
                  <a:close/>
                </a:path>
              </a:pathLst>
            </a:custGeom>
            <a:solidFill>
              <a:srgbClr val="5DA295"/>
            </a:solidFill>
          </p:spPr>
        </p:sp>
        <p:sp>
          <p:nvSpPr>
            <p:cNvPr name="TextBox 4" id="4"/>
            <p:cNvSpPr txBox="true"/>
            <p:nvPr/>
          </p:nvSpPr>
          <p:spPr>
            <a:xfrm>
              <a:off x="0" y="-38100"/>
              <a:ext cx="3876166" cy="186298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3061903" y="-1566138"/>
            <a:ext cx="4761674" cy="4761674"/>
          </a:xfrm>
          <a:custGeom>
            <a:avLst/>
            <a:gdLst/>
            <a:ahLst/>
            <a:cxnLst/>
            <a:rect r="r" b="b" t="t" l="l"/>
            <a:pathLst>
              <a:path h="4761674" w="4761674">
                <a:moveTo>
                  <a:pt x="0" y="0"/>
                </a:moveTo>
                <a:lnTo>
                  <a:pt x="4761674" y="0"/>
                </a:lnTo>
                <a:lnTo>
                  <a:pt x="4761674" y="4761675"/>
                </a:lnTo>
                <a:lnTo>
                  <a:pt x="0" y="4761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442740" y="2842069"/>
            <a:ext cx="1413018" cy="1236391"/>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FFFFF"/>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28700" y="1313694"/>
            <a:ext cx="1528376" cy="1528376"/>
          </a:xfrm>
          <a:custGeom>
            <a:avLst/>
            <a:gdLst/>
            <a:ahLst/>
            <a:cxnLst/>
            <a:rect r="r" b="b" t="t" l="l"/>
            <a:pathLst>
              <a:path h="1528376" w="1528376">
                <a:moveTo>
                  <a:pt x="0" y="0"/>
                </a:moveTo>
                <a:lnTo>
                  <a:pt x="1528376" y="0"/>
                </a:lnTo>
                <a:lnTo>
                  <a:pt x="1528376" y="1528375"/>
                </a:lnTo>
                <a:lnTo>
                  <a:pt x="0" y="1528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24221" y="7272116"/>
            <a:ext cx="4777529" cy="4771073"/>
          </a:xfrm>
          <a:custGeom>
            <a:avLst/>
            <a:gdLst/>
            <a:ahLst/>
            <a:cxnLst/>
            <a:rect r="r" b="b" t="t" l="l"/>
            <a:pathLst>
              <a:path h="4771073" w="4777529">
                <a:moveTo>
                  <a:pt x="0" y="0"/>
                </a:moveTo>
                <a:lnTo>
                  <a:pt x="4777529" y="0"/>
                </a:lnTo>
                <a:lnTo>
                  <a:pt x="4777529" y="4771073"/>
                </a:lnTo>
                <a:lnTo>
                  <a:pt x="0" y="47710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386547" y="3908425"/>
            <a:ext cx="13514906" cy="2222501"/>
          </a:xfrm>
          <a:prstGeom prst="rect">
            <a:avLst/>
          </a:prstGeom>
        </p:spPr>
        <p:txBody>
          <a:bodyPr anchor="t" rtlCol="false" tIns="0" lIns="0" bIns="0" rIns="0">
            <a:spAutoFit/>
          </a:bodyPr>
          <a:lstStyle/>
          <a:p>
            <a:pPr algn="ctr">
              <a:lnSpc>
                <a:spcPts val="18199"/>
              </a:lnSpc>
            </a:pPr>
            <a:r>
              <a:rPr lang="en-US" sz="12999" b="true">
                <a:solidFill>
                  <a:srgbClr val="FFFFFF"/>
                </a:solidFill>
                <a:latin typeface="Glacial Indifference Bold"/>
                <a:ea typeface="Glacial Indifference Bold"/>
                <a:cs typeface="Glacial Indifference Bold"/>
                <a:sym typeface="Glacial Indifference Bold"/>
              </a:rPr>
              <a:t>Terima Kasih</a:t>
            </a:r>
          </a:p>
        </p:txBody>
      </p:sp>
      <p:sp>
        <p:nvSpPr>
          <p:cNvPr name="Freeform 12" id="12"/>
          <p:cNvSpPr/>
          <p:nvPr/>
        </p:nvSpPr>
        <p:spPr>
          <a:xfrm flipH="false" flipV="false" rot="0">
            <a:off x="4317571" y="7272116"/>
            <a:ext cx="1084179" cy="1084179"/>
          </a:xfrm>
          <a:custGeom>
            <a:avLst/>
            <a:gdLst/>
            <a:ahLst/>
            <a:cxnLst/>
            <a:rect r="r" b="b" t="t" l="l"/>
            <a:pathLst>
              <a:path h="1084179" w="1084179">
                <a:moveTo>
                  <a:pt x="0" y="0"/>
                </a:moveTo>
                <a:lnTo>
                  <a:pt x="1084179" y="0"/>
                </a:lnTo>
                <a:lnTo>
                  <a:pt x="1084179" y="1084179"/>
                </a:lnTo>
                <a:lnTo>
                  <a:pt x="0" y="10841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DAGVTzTZy-E</dc:identifier>
  <dcterms:modified xsi:type="dcterms:W3CDTF">2011-08-01T06:04:30Z</dcterms:modified>
  <cp:revision>1</cp:revision>
  <dc:title>Kelompok 5</dc:title>
</cp:coreProperties>
</file>